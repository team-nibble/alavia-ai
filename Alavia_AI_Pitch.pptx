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2" r:id="rId3"/>
  </p:sldMasterIdLst>
  <p:notesMasterIdLst>
    <p:notesMasterId r:id="rId4"/>
  </p:notesMasterIdLst>
  <p:sldIdLst>
    <p:sldId id="256" r:id="rId5"/>
    <p:sldId id="264" r:id="rId13"/>
    <p:sldId id="257" r:id="rId6"/>
    <p:sldId id="258" r:id="rId7"/>
    <p:sldId id="259" r:id="rId8"/>
    <p:sldId id="265" r:id="rId14"/>
    <p:sldId id="260" r:id="rId9"/>
    <p:sldId id="261" r:id="rId10"/>
    <p:sldId id="262" r:id="rId11"/>
    <p:sldId id="266" r:id="rId15"/>
    <p:sldId id="263" r:id="rId1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2" Type="http://schemas.openxmlformats.org/officeDocument/2006/relationships/slide" Target="slides/slide8.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  <Relationship Id="rId13" Type="http://schemas.openxmlformats.org/officeDocument/2006/relationships/slide" Target="slides/slide9.xml"/>
  <Relationship Id="rId14" Type="http://schemas.openxmlformats.org/officeDocument/2006/relationships/slide" Target="slides/slide10.xml"/>
  <Relationship Id="rId15" Type="http://schemas.openxmlformats.org/officeDocument/2006/relationships/slide" Target="slides/slide1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with the line, not the product. "Your health, in your language." Alavia is a voice-first health partner for Nigeria: you describe what is wrong in English, Pidgin, Yoruba, Hausa or Igbo and it tells you what to do next. The app on the right is the live MVP.</a:t>
            </a:r>
            <a:endParaRPr/>
          </a:p>
        </p:txBody>
      </p:sp>
      <p:sp>
        <p:nvSpPr>
          <p:cNvPr id="20" name="Google Shape;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problem is not a lack of health information. It is five small frictions that stack up: the language barrier, text-heavy screens, not knowing how urgent it is, chatbots that answer but do not act, and picking a facility that cannot actually help. Everyone in this room has asked "is this serious, and where do I go?"</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Five steps, one flow. You speak, it asks the right questions one at a time, it checks for red flags and sets an urgency level, it gives safe first-aid steps, and it routes you to a hospital. The difference from a chatbot is that every conversation ends in an action. And we are clear about the limits: it is guidance, not a doctor.</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real app, not mock-ups. Language first. The whole interface switches, here in Yoruba. After the questions you get an urgency level and first-aid steps, in this case Critical for chest pain with trouble breathing. Then the nearest emergency hospital on a real map, with directions. If this is the moment for a live demo, do it here: pick Pidgin, tap the keyboard, type "my chest dey pain me, I no fit breathe", and let it run to the map.</a:t>
            </a:r>
            <a:endParaRPr/>
          </a:p>
        </p:txBody>
      </p:sp>
      <p:sp>
        <p:nvSpPr>
          <p:cNvPr id="89" name="Google Shape;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health product, so safety is the feature. Four urgency levels. Red-flag symptoms escalate immediately, and we tested that the same chest-pain-with-breathing-trouble complaint comes out Critical in English, Pidgin and Yoruba, because under-triage in a local language is the dangerous failure. Alavia also checks back later, and if you say you are worse it opens emergency help. And it never diagnoses or prescribes.</a:t>
            </a:r>
            <a:endParaRPr/>
          </a:p>
        </p:txBody>
      </p:sp>
      <p:sp>
        <p:nvSpPr>
          <p:cNvPr id="103" name="Google Shape;10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People pay little or nothing, which keeps reach wide. The money comes from the healthcare ecosystem that benefits when patients arrive at the right door: hospitals paying for verified profiles and discovery, a hospital software subscription later, and institutions such as HMOs, employers, universities and NGOs deploying Alavia for their people. We start with a Lagos pilot. Have your own market-size and pricing numbers ready for questions: the product document deliberately does not state any.</a:t>
            </a:r>
            <a:endParaRPr/>
          </a:p>
        </p:txBody>
      </p:sp>
      <p:sp>
        <p:nvSpPr>
          <p:cNvPr id="131" name="Google Shape;13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stages. Stage one, the AI health companion, is built and live. Stage two connects people to verified hospitals, clinics and professionals. Stage three is the access layer connecting hospitals, HMOs, employers and NGOs. The Lagos pilot proves adoption, voice usability per language, routing quality and hospital trust. Distribution runs through the places people already trust: partner hospitals with QR codes, schools, faith and community groups, and community health workers.</a:t>
            </a:r>
            <a:endParaRPr/>
          </a:p>
        </p:txBody>
      </p:sp>
      <p:sp>
        <p:nvSpPr>
          <p:cNvPr id="163" name="Google Shape;1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on the line. From "something is wrong" to "I know what to do next". What is built: five languages, voice-first, a guest mode so an emergency never hits a sign-up wall, a nearest-hospital map, and follow-up check-ins. The ask is yours to state: the next step is a Lagos pilot with partner hospitals. The screen on the right is the same app in Pidgin: "How your body dey?"</a:t>
            </a:r>
            <a:endParaRPr/>
          </a:p>
        </p:txBody>
      </p:sp>
      <p:sp>
        <p:nvSpPr>
          <p:cNvPr id="187" name="Google Shape;18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064E3B"/>
        </a:solidFill>
      </p:bgPr>
    </p:bg>
    <p:spTree>
      <p:nvGrpSpPr>
        <p:cNvPr id="10" name="Shape 10"/>
        <p:cNvGrpSpPr/>
        <p:nvPr/>
      </p:nvGrpSpPr>
      <p:grpSpPr>
        <a:xfrm>
          <a:off x="0" y="0"/>
          <a:ext cx="0" cy="0"/>
          <a:chOff x="0" y="0"/>
          <a:chExt cx="0" cy="0"/>
        </a:xfrm>
      </p:grpSpPr>
      <p:sp>
        <p:nvSpPr>
          <p:cNvPr id="11" name="Google Shape;11;p2"/>
          <p:cNvSpPr txBox="1"/>
          <p:nvPr>
            <p:ph type="title"/>
          </p:nvPr>
        </p:nvSpPr>
        <p:spPr>
          <a:xfrm>
            <a:off x="731520" y="1737360"/>
            <a:ext cx="6766560" cy="23774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5600"/>
              <a:buFont typeface="Arial"/>
              <a:buNone/>
              <a:defRPr b="1" i="0" sz="56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LIGHT">
    <p:bg>
      <p:bgPr>
        <a:solidFill>
          <a:srgbClr val="FFFFFF"/>
        </a:solidFill>
      </p:bgPr>
    </p:bg>
    <p:spTree>
      <p:nvGrpSpPr>
        <p:cNvPr id="12" name="Shape 12"/>
        <p:cNvGrpSpPr/>
        <p:nvPr/>
      </p:nvGrpSpPr>
      <p:grpSpPr>
        <a:xfrm>
          <a:off x="0" y="0"/>
          <a:ext cx="0" cy="0"/>
          <a:chOff x="0" y="0"/>
          <a:chExt cx="0" cy="0"/>
        </a:xfrm>
      </p:grpSpPr>
      <p:sp>
        <p:nvSpPr>
          <p:cNvPr id="13" name="Google Shape;13;p3"/>
          <p:cNvSpPr txBox="1"/>
          <p:nvPr>
            <p:ph type="title"/>
          </p:nvPr>
        </p:nvSpPr>
        <p:spPr>
          <a:xfrm>
            <a:off x="640080" y="411480"/>
            <a:ext cx="10881360" cy="10515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0F172A"/>
              </a:buClr>
              <a:buSzPts val="3400"/>
              <a:buFont typeface="Arial"/>
              <a:buNone/>
              <a:defRPr b="1" i="0" sz="3400" u="none" cap="none" strike="noStrike">
                <a:solidFill>
                  <a:srgbClr val="0F172A"/>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
  <p:cSld name="CLOSE">
    <p:bg>
      <p:bgPr>
        <a:solidFill>
          <a:srgbClr val="064E3B"/>
        </a:solidFill>
      </p:bgPr>
    </p:bg>
    <p:spTree>
      <p:nvGrpSpPr>
        <p:cNvPr id="14" name="Shape 14"/>
        <p:cNvGrpSpPr/>
        <p:nvPr/>
      </p:nvGrpSpPr>
      <p:grpSpPr>
        <a:xfrm>
          <a:off x="0" y="0"/>
          <a:ext cx="0" cy="0"/>
          <a:chOff x="0" y="0"/>
          <a:chExt cx="0" cy="0"/>
        </a:xfrm>
      </p:grpSpPr>
      <p:sp>
        <p:nvSpPr>
          <p:cNvPr id="15" name="Google Shape;15;p4"/>
          <p:cNvSpPr txBox="1"/>
          <p:nvPr>
            <p:ph type="title"/>
          </p:nvPr>
        </p:nvSpPr>
        <p:spPr>
          <a:xfrm>
            <a:off x="731520" y="822960"/>
            <a:ext cx="7498080" cy="21031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4000"/>
              <a:buFont typeface="Arial"/>
              <a:buNone/>
              <a:defRPr b="1" i="0" sz="40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pic>
        <p:nvPicPr>
          <p:cNvPr descr="Alavia logo" id="22" name="Google Shape;22;p6"/>
          <p:cNvPicPr preferRelativeResize="0"/>
          <p:nvPr/>
        </p:nvPicPr>
        <p:blipFill rotWithShape="1">
          <a:blip r:embed="rId3">
            <a:alphaModFix/>
          </a:blip>
          <a:srcRect b="0" l="0" r="0" t="0"/>
          <a:stretch/>
        </p:blipFill>
        <p:spPr>
          <a:xfrm>
            <a:off x="731520" y="594360"/>
            <a:ext cx="566928" cy="530352"/>
          </a:xfrm>
          <a:prstGeom prst="rect">
            <a:avLst/>
          </a:prstGeom>
          <a:noFill/>
          <a:ln>
            <a:noFill/>
          </a:ln>
        </p:spPr>
      </p:pic>
      <p:sp>
        <p:nvSpPr>
          <p:cNvPr id="23" name="Google Shape;23;p6"/>
          <p:cNvSpPr txBox="1"/>
          <p:nvPr/>
        </p:nvSpPr>
        <p:spPr>
          <a:xfrm>
            <a:off x="1463040" y="640080"/>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pc="300" sz="1800" u="none" cap="none" strike="noStrike">
                <a:solidFill>
                  <a:srgbClr val="FFFFFF"/>
                </a:solidFill>
                <a:latin typeface="Arial"/>
                <a:ea typeface="Arial"/>
                <a:cs typeface="Arial"/>
                <a:sym typeface="Arial"/>
              </a:rPr>
              <a:t>ALAVIA AI</a:t>
            </a:r>
            <a:endParaRPr b="0" i="0" sz="1800" u="none" cap="none" strike="noStrike">
              <a:solidFill>
                <a:schemeClr val="dk1"/>
              </a:solidFill>
              <a:latin typeface="Arial"/>
              <a:ea typeface="Arial"/>
              <a:cs typeface="Arial"/>
              <a:sym typeface="Arial"/>
            </a:endParaRPr>
          </a:p>
        </p:txBody>
      </p:sp>
      <p:sp>
        <p:nvSpPr>
          <p:cNvPr id="24" name="Google Shape;24;p6"/>
          <p:cNvSpPr txBox="1"/>
          <p:nvPr>
            <p:ph type="title"/>
          </p:nvPr>
        </p:nvSpPr>
        <p:spPr>
          <a:xfrm>
            <a:off x="731520" y="1737360"/>
            <a:ext cx="6766560" cy="23774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5600"/>
              <a:buFont typeface="Arial"/>
              <a:buNone/>
            </a:pPr>
            <a:r>
              <a:rPr b="1" lang="en-US" sz="5600">
                <a:solidFill>
                  <a:srgbClr val="FFFFFF"/>
                </a:solidFill>
                <a:latin typeface="Arial"/>
                <a:ea typeface="Arial"/>
                <a:cs typeface="Arial"/>
                <a:sym typeface="Arial"/>
              </a:rPr>
              <a:t>Your health, in your language.</a:t>
            </a:r>
            <a:endParaRPr sz="5600"/>
          </a:p>
        </p:txBody>
      </p:sp>
      <p:sp>
        <p:nvSpPr>
          <p:cNvPr id="25" name="Google Shape;25;p6"/>
          <p:cNvSpPr txBox="1"/>
          <p:nvPr/>
        </p:nvSpPr>
        <p:spPr>
          <a:xfrm>
            <a:off x="731520" y="4343400"/>
            <a:ext cx="630936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FAE5"/>
              </a:buClr>
              <a:buSzPts val="1800"/>
              <a:buFont typeface="Arial"/>
              <a:buNone/>
            </a:pPr>
            <a:r>
              <a:rPr b="0" i="0" lang="en-US" sz="1800" u="none" cap="none" strike="noStrike">
                <a:solidFill>
                  <a:srgbClr val="D1FAE5"/>
                </a:solidFill>
                <a:latin typeface="Arial"/>
                <a:ea typeface="Arial"/>
                <a:cs typeface="Arial"/>
                <a:sym typeface="Arial"/>
              </a:rPr>
              <a:t>A voice-first AI health partner for Nigeria. Say what is wrong in English, Pidgin, Yoruba, Hausa or Igbo, and Alavia tells you what to do next.</a:t>
            </a:r>
            <a:endParaRPr b="0" i="0" sz="1800" u="none" cap="none" strike="noStrike">
              <a:solidFill>
                <a:schemeClr val="dk1"/>
              </a:solidFill>
              <a:latin typeface="Arial"/>
              <a:ea typeface="Arial"/>
              <a:cs typeface="Arial"/>
              <a:sym typeface="Arial"/>
            </a:endParaRPr>
          </a:p>
        </p:txBody>
      </p:sp>
      <p:sp>
        <p:nvSpPr>
          <p:cNvPr id="26" name="Google Shape;26;p6"/>
          <p:cNvSpPr txBox="1"/>
          <p:nvPr/>
        </p:nvSpPr>
        <p:spPr>
          <a:xfrm>
            <a:off x="731520" y="598932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FAE5"/>
              </a:buClr>
              <a:buSzPts val="1400"/>
              <a:buFont typeface="Arial"/>
              <a:buNone/>
            </a:pPr>
            <a:r>
              <a:rPr b="0" i="0" lang="en-US" sz="1400" u="none" cap="none" strike="noStrike">
                <a:solidFill>
                  <a:srgbClr val="D1FAE5"/>
                </a:solidFill>
                <a:latin typeface="Arial"/>
                <a:ea typeface="Arial"/>
                <a:cs typeface="Arial"/>
                <a:sym typeface="Arial"/>
              </a:rPr>
              <a:t>Live MVP  </a:t>
            </a:r>
            <a:r>
              <a:rPr b="1" i="0" lang="en-US" sz="1400" u="none" cap="none" strike="noStrike">
                <a:solidFill>
                  <a:srgbClr val="10B981"/>
                </a:solidFill>
                <a:latin typeface="Arial"/>
                <a:ea typeface="Arial"/>
                <a:cs typeface="Arial"/>
                <a:sym typeface="Arial"/>
              </a:rPr>
              <a:t>alavia-ai.vercel.app</a:t>
            </a:r>
            <a:endParaRPr b="0" i="0" sz="1400" u="none" cap="none" strike="noStrike">
              <a:solidFill>
                <a:schemeClr val="dk1"/>
              </a:solidFill>
              <a:latin typeface="Arial"/>
              <a:ea typeface="Arial"/>
              <a:cs typeface="Arial"/>
              <a:sym typeface="Arial"/>
            </a:endParaRPr>
          </a:p>
        </p:txBody>
      </p:sp>
      <p:sp>
        <p:nvSpPr>
          <p:cNvPr id="27" name="Google Shape;27;p6"/>
          <p:cNvSpPr txBox="1"/>
          <p:nvPr/>
        </p:nvSpPr>
        <p:spPr>
          <a:xfrm>
            <a:off x="731520" y="63093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FAE5"/>
              </a:buClr>
              <a:buSzPts val="1200"/>
              <a:buFont typeface="Arial"/>
              <a:buNone/>
            </a:pPr>
            <a:r>
              <a:rPr b="0" i="0" lang="en-US" sz="1200" u="none" cap="none" strike="noStrike">
                <a:solidFill>
                  <a:srgbClr val="D1FAE5"/>
                </a:solidFill>
                <a:latin typeface="Arial"/>
                <a:ea typeface="Arial"/>
                <a:cs typeface="Arial"/>
                <a:sym typeface="Arial"/>
              </a:rPr>
              <a:t>Team NIBBLE</a:t>
            </a:r>
            <a:endParaRPr b="0" i="0" sz="1200" u="none" cap="none" strike="noStrike">
              <a:solidFill>
                <a:schemeClr val="dk1"/>
              </a:solidFill>
              <a:latin typeface="Arial"/>
              <a:ea typeface="Arial"/>
              <a:cs typeface="Arial"/>
              <a:sym typeface="Arial"/>
            </a:endParaRPr>
          </a:p>
        </p:txBody>
      </p:sp>
      <p:pic>
        <p:nvPicPr>
          <p:cNvPr descr="Alavia language selection screen" id="28" name="Google Shape;28;p6"/>
          <p:cNvPicPr preferRelativeResize="0"/>
          <p:nvPr/>
        </p:nvPicPr>
        <p:blipFill rotWithShape="1">
          <a:blip r:embed="rId4">
            <a:alphaModFix/>
          </a:blip>
          <a:srcRect b="0" l="0" r="0" t="0"/>
          <a:stretch/>
        </p:blipFill>
        <p:spPr>
          <a:xfrm>
            <a:off x="8392350" y="206937"/>
            <a:ext cx="3022395" cy="65369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7"/>
          <p:cNvSpPr txBox="1"/>
          <p:nvPr>
            <p:ph type="title"/>
          </p:nvPr>
        </p:nvSpPr>
        <p:spPr>
          <a:xfrm>
            <a:off x="640080" y="411480"/>
            <a:ext cx="10881360" cy="10515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172A"/>
              </a:buClr>
              <a:buSzPts val="3400"/>
              <a:buFont typeface="Arial"/>
              <a:buNone/>
            </a:pPr>
            <a:r>
              <a:rPr b="1" lang="en-US" sz="3400">
                <a:solidFill>
                  <a:srgbClr val="0F172A"/>
                </a:solidFill>
                <a:latin typeface="Arial"/>
                <a:ea typeface="Arial"/>
                <a:cs typeface="Arial"/>
                <a:sym typeface="Arial"/>
              </a:rPr>
              <a:t>When something feels wrong, most people are left to guess</a:t>
            </a:r>
            <a:endParaRPr sz="3400"/>
          </a:p>
        </p:txBody>
      </p:sp>
      <p:sp>
        <p:nvSpPr>
          <p:cNvPr id="35" name="Google Shape;35;p7"/>
          <p:cNvSpPr txBox="1"/>
          <p:nvPr/>
        </p:nvSpPr>
        <p:spPr>
          <a:xfrm>
            <a:off x="640080" y="1920240"/>
            <a:ext cx="48463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800"/>
              <a:buFont typeface="Arial"/>
              <a:buNone/>
            </a:pPr>
            <a:r>
              <a:rPr b="0" i="0" lang="en-US" sz="1800" u="none" cap="none" strike="noStrike">
                <a:solidFill>
                  <a:srgbClr val="64748B"/>
                </a:solidFill>
                <a:latin typeface="Arial"/>
                <a:ea typeface="Arial"/>
                <a:cs typeface="Arial"/>
                <a:sym typeface="Arial"/>
              </a:rPr>
              <a:t>Most digital health tools assume English, typing and a clear sense of how serious a symptom is. Real life is messier.</a:t>
            </a:r>
            <a:endParaRPr b="0" i="0" sz="1800" u="none" cap="none" strike="noStrike">
              <a:solidFill>
                <a:schemeClr val="dk1"/>
              </a:solidFill>
              <a:latin typeface="Arial"/>
              <a:ea typeface="Arial"/>
              <a:cs typeface="Arial"/>
              <a:sym typeface="Arial"/>
            </a:endParaRPr>
          </a:p>
        </p:txBody>
      </p:sp>
      <p:sp>
        <p:nvSpPr>
          <p:cNvPr id="36" name="Google Shape;36;p7"/>
          <p:cNvSpPr txBox="1"/>
          <p:nvPr/>
        </p:nvSpPr>
        <p:spPr>
          <a:xfrm>
            <a:off x="640080" y="3840480"/>
            <a:ext cx="484632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3000"/>
              <a:buFont typeface="Arial"/>
              <a:buNone/>
            </a:pPr>
            <a:r>
              <a:rPr b="1" i="0" lang="en-US" sz="3000" u="none" cap="none" strike="noStrike">
                <a:solidFill>
                  <a:srgbClr val="059669"/>
                </a:solidFill>
                <a:latin typeface="Arial"/>
                <a:ea typeface="Arial"/>
                <a:cs typeface="Arial"/>
                <a:sym typeface="Arial"/>
              </a:rPr>
              <a:t>“Is this serious? Where do I go?”</a:t>
            </a:r>
            <a:endParaRPr b="0" i="0" sz="3000" u="none" cap="none" strike="noStrike">
              <a:solidFill>
                <a:schemeClr val="dk1"/>
              </a:solidFill>
              <a:latin typeface="Arial"/>
              <a:ea typeface="Arial"/>
              <a:cs typeface="Arial"/>
              <a:sym typeface="Arial"/>
            </a:endParaRPr>
          </a:p>
        </p:txBody>
      </p:sp>
      <p:sp>
        <p:nvSpPr>
          <p:cNvPr id="37" name="Google Shape;37;p7"/>
          <p:cNvSpPr/>
          <p:nvPr/>
        </p:nvSpPr>
        <p:spPr>
          <a:xfrm>
            <a:off x="5943600" y="1691640"/>
            <a:ext cx="5577840" cy="4572000"/>
          </a:xfrm>
          <a:prstGeom prst="roundRect">
            <a:avLst>
              <a:gd fmla="val 60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a:off x="6263640" y="1993392"/>
            <a:ext cx="457200" cy="457200"/>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nvSpPr>
        <p:spPr>
          <a:xfrm>
            <a:off x="6263640" y="199339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Arial"/>
              <a:ea typeface="Arial"/>
              <a:cs typeface="Arial"/>
              <a:sym typeface="Arial"/>
            </a:endParaRPr>
          </a:p>
        </p:txBody>
      </p:sp>
      <p:sp>
        <p:nvSpPr>
          <p:cNvPr id="40" name="Google Shape;40;p7"/>
          <p:cNvSpPr txBox="1"/>
          <p:nvPr/>
        </p:nvSpPr>
        <p:spPr>
          <a:xfrm>
            <a:off x="6949440" y="1920240"/>
            <a:ext cx="43891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800"/>
              <a:buFont typeface="Arial"/>
              <a:buNone/>
            </a:pPr>
            <a:r>
              <a:rPr b="1" i="0" lang="en-US" sz="1800" u="none" cap="none" strike="noStrike">
                <a:solidFill>
                  <a:srgbClr val="0F172A"/>
                </a:solidFill>
                <a:latin typeface="Arial"/>
                <a:ea typeface="Arial"/>
                <a:cs typeface="Arial"/>
                <a:sym typeface="Arial"/>
              </a:rPr>
              <a:t>Language barrier</a:t>
            </a:r>
            <a:endParaRPr b="0" i="0" sz="1800" u="none" cap="none" strike="noStrike">
              <a:solidFill>
                <a:schemeClr val="dk1"/>
              </a:solidFill>
              <a:latin typeface="Arial"/>
              <a:ea typeface="Arial"/>
              <a:cs typeface="Arial"/>
              <a:sym typeface="Arial"/>
            </a:endParaRPr>
          </a:p>
        </p:txBody>
      </p:sp>
      <p:sp>
        <p:nvSpPr>
          <p:cNvPr id="41" name="Google Shape;41;p7"/>
          <p:cNvSpPr txBox="1"/>
          <p:nvPr/>
        </p:nvSpPr>
        <p:spPr>
          <a:xfrm>
            <a:off x="6949440" y="2249424"/>
            <a:ext cx="43891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Hard to explain a concern in a second language</a:t>
            </a:r>
            <a:endParaRPr b="0" i="0" sz="1400" u="none" cap="none" strike="noStrike">
              <a:solidFill>
                <a:schemeClr val="dk1"/>
              </a:solidFill>
              <a:latin typeface="Arial"/>
              <a:ea typeface="Arial"/>
              <a:cs typeface="Arial"/>
              <a:sym typeface="Arial"/>
            </a:endParaRPr>
          </a:p>
        </p:txBody>
      </p:sp>
      <p:sp>
        <p:nvSpPr>
          <p:cNvPr id="42" name="Google Shape;42;p7"/>
          <p:cNvSpPr/>
          <p:nvPr/>
        </p:nvSpPr>
        <p:spPr>
          <a:xfrm>
            <a:off x="6263640" y="2843784"/>
            <a:ext cx="457200" cy="457200"/>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txBox="1"/>
          <p:nvPr/>
        </p:nvSpPr>
        <p:spPr>
          <a:xfrm>
            <a:off x="6263640" y="284378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Arial"/>
              <a:ea typeface="Arial"/>
              <a:cs typeface="Arial"/>
              <a:sym typeface="Arial"/>
            </a:endParaRPr>
          </a:p>
        </p:txBody>
      </p:sp>
      <p:sp>
        <p:nvSpPr>
          <p:cNvPr id="44" name="Google Shape;44;p7"/>
          <p:cNvSpPr txBox="1"/>
          <p:nvPr/>
        </p:nvSpPr>
        <p:spPr>
          <a:xfrm>
            <a:off x="6949440" y="2770632"/>
            <a:ext cx="43891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800"/>
              <a:buFont typeface="Arial"/>
              <a:buNone/>
            </a:pPr>
            <a:r>
              <a:rPr b="1" i="0" lang="en-US" sz="1800" u="none" cap="none" strike="noStrike">
                <a:solidFill>
                  <a:srgbClr val="0F172A"/>
                </a:solidFill>
                <a:latin typeface="Arial"/>
                <a:ea typeface="Arial"/>
                <a:cs typeface="Arial"/>
                <a:sym typeface="Arial"/>
              </a:rPr>
              <a:t>Text-heavy screens</a:t>
            </a:r>
            <a:endParaRPr b="0" i="0" sz="1800" u="none" cap="none" strike="noStrike">
              <a:solidFill>
                <a:schemeClr val="dk1"/>
              </a:solidFill>
              <a:latin typeface="Arial"/>
              <a:ea typeface="Arial"/>
              <a:cs typeface="Arial"/>
              <a:sym typeface="Arial"/>
            </a:endParaRPr>
          </a:p>
        </p:txBody>
      </p:sp>
      <p:sp>
        <p:nvSpPr>
          <p:cNvPr id="45" name="Google Shape;45;p7"/>
          <p:cNvSpPr txBox="1"/>
          <p:nvPr/>
        </p:nvSpPr>
        <p:spPr>
          <a:xfrm>
            <a:off x="6949440" y="3099816"/>
            <a:ext cx="43891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Typing and reading shut people out</a:t>
            </a:r>
            <a:endParaRPr b="0" i="0" sz="1400" u="none" cap="none" strike="noStrike">
              <a:solidFill>
                <a:schemeClr val="dk1"/>
              </a:solidFill>
              <a:latin typeface="Arial"/>
              <a:ea typeface="Arial"/>
              <a:cs typeface="Arial"/>
              <a:sym typeface="Arial"/>
            </a:endParaRPr>
          </a:p>
        </p:txBody>
      </p:sp>
      <p:sp>
        <p:nvSpPr>
          <p:cNvPr id="46" name="Google Shape;46;p7"/>
          <p:cNvSpPr/>
          <p:nvPr/>
        </p:nvSpPr>
        <p:spPr>
          <a:xfrm>
            <a:off x="6263640" y="3694176"/>
            <a:ext cx="457200" cy="457200"/>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7"/>
          <p:cNvSpPr txBox="1"/>
          <p:nvPr/>
        </p:nvSpPr>
        <p:spPr>
          <a:xfrm>
            <a:off x="6263640" y="369417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Arial"/>
              <a:ea typeface="Arial"/>
              <a:cs typeface="Arial"/>
              <a:sym typeface="Arial"/>
            </a:endParaRPr>
          </a:p>
        </p:txBody>
      </p:sp>
      <p:sp>
        <p:nvSpPr>
          <p:cNvPr id="48" name="Google Shape;48;p7"/>
          <p:cNvSpPr txBox="1"/>
          <p:nvPr/>
        </p:nvSpPr>
        <p:spPr>
          <a:xfrm>
            <a:off x="6949440" y="3621024"/>
            <a:ext cx="43891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800"/>
              <a:buFont typeface="Arial"/>
              <a:buNone/>
            </a:pPr>
            <a:r>
              <a:rPr b="1" i="0" lang="en-US" sz="1800" u="none" cap="none" strike="noStrike">
                <a:solidFill>
                  <a:srgbClr val="0F172A"/>
                </a:solidFill>
                <a:latin typeface="Arial"/>
                <a:ea typeface="Arial"/>
                <a:cs typeface="Arial"/>
                <a:sym typeface="Arial"/>
              </a:rPr>
              <a:t>No sense of urgency</a:t>
            </a:r>
            <a:endParaRPr b="0" i="0" sz="1800" u="none" cap="none" strike="noStrike">
              <a:solidFill>
                <a:schemeClr val="dk1"/>
              </a:solidFill>
              <a:latin typeface="Arial"/>
              <a:ea typeface="Arial"/>
              <a:cs typeface="Arial"/>
              <a:sym typeface="Arial"/>
            </a:endParaRPr>
          </a:p>
        </p:txBody>
      </p:sp>
      <p:sp>
        <p:nvSpPr>
          <p:cNvPr id="49" name="Google Shape;49;p7"/>
          <p:cNvSpPr txBox="1"/>
          <p:nvPr/>
        </p:nvSpPr>
        <p:spPr>
          <a:xfrm>
            <a:off x="6949440" y="3950208"/>
            <a:ext cx="43891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Waiting too long, or the wrong next step</a:t>
            </a:r>
            <a:endParaRPr b="0" i="0" sz="1400" u="none" cap="none" strike="noStrike">
              <a:solidFill>
                <a:schemeClr val="dk1"/>
              </a:solidFill>
              <a:latin typeface="Arial"/>
              <a:ea typeface="Arial"/>
              <a:cs typeface="Arial"/>
              <a:sym typeface="Arial"/>
            </a:endParaRPr>
          </a:p>
        </p:txBody>
      </p:sp>
      <p:sp>
        <p:nvSpPr>
          <p:cNvPr id="50" name="Google Shape;50;p7"/>
          <p:cNvSpPr/>
          <p:nvPr/>
        </p:nvSpPr>
        <p:spPr>
          <a:xfrm>
            <a:off x="6263640" y="4544568"/>
            <a:ext cx="457200" cy="457200"/>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txBox="1"/>
          <p:nvPr/>
        </p:nvSpPr>
        <p:spPr>
          <a:xfrm>
            <a:off x="6263640" y="454456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4</a:t>
            </a:r>
            <a:endParaRPr b="0" i="0" sz="1600" u="none" cap="none" strike="noStrike">
              <a:solidFill>
                <a:schemeClr val="dk1"/>
              </a:solidFill>
              <a:latin typeface="Arial"/>
              <a:ea typeface="Arial"/>
              <a:cs typeface="Arial"/>
              <a:sym typeface="Arial"/>
            </a:endParaRPr>
          </a:p>
        </p:txBody>
      </p:sp>
      <p:sp>
        <p:nvSpPr>
          <p:cNvPr id="52" name="Google Shape;52;p7"/>
          <p:cNvSpPr txBox="1"/>
          <p:nvPr/>
        </p:nvSpPr>
        <p:spPr>
          <a:xfrm>
            <a:off x="6949440" y="4471416"/>
            <a:ext cx="43891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800"/>
              <a:buFont typeface="Arial"/>
              <a:buNone/>
            </a:pPr>
            <a:r>
              <a:rPr b="1" i="0" lang="en-US" sz="1800" u="none" cap="none" strike="noStrike">
                <a:solidFill>
                  <a:srgbClr val="0F172A"/>
                </a:solidFill>
                <a:latin typeface="Arial"/>
                <a:ea typeface="Arial"/>
                <a:cs typeface="Arial"/>
                <a:sym typeface="Arial"/>
              </a:rPr>
              <a:t>Chatbots stop at talking</a:t>
            </a:r>
            <a:endParaRPr b="0" i="0" sz="1800" u="none" cap="none" strike="noStrike">
              <a:solidFill>
                <a:schemeClr val="dk1"/>
              </a:solidFill>
              <a:latin typeface="Arial"/>
              <a:ea typeface="Arial"/>
              <a:cs typeface="Arial"/>
              <a:sym typeface="Arial"/>
            </a:endParaRPr>
          </a:p>
        </p:txBody>
      </p:sp>
      <p:sp>
        <p:nvSpPr>
          <p:cNvPr id="53" name="Google Shape;53;p7"/>
          <p:cNvSpPr txBox="1"/>
          <p:nvPr/>
        </p:nvSpPr>
        <p:spPr>
          <a:xfrm>
            <a:off x="6949440" y="4800600"/>
            <a:ext cx="43891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An answer, but no action</a:t>
            </a:r>
            <a:endParaRPr b="0" i="0" sz="1400" u="none" cap="none" strike="noStrike">
              <a:solidFill>
                <a:schemeClr val="dk1"/>
              </a:solidFill>
              <a:latin typeface="Arial"/>
              <a:ea typeface="Arial"/>
              <a:cs typeface="Arial"/>
              <a:sym typeface="Arial"/>
            </a:endParaRPr>
          </a:p>
        </p:txBody>
      </p:sp>
      <p:sp>
        <p:nvSpPr>
          <p:cNvPr id="54" name="Google Shape;54;p7"/>
          <p:cNvSpPr/>
          <p:nvPr/>
        </p:nvSpPr>
        <p:spPr>
          <a:xfrm>
            <a:off x="6263640" y="5394960"/>
            <a:ext cx="457200" cy="457200"/>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txBox="1"/>
          <p:nvPr/>
        </p:nvSpPr>
        <p:spPr>
          <a:xfrm>
            <a:off x="6263640" y="53949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5</a:t>
            </a:r>
            <a:endParaRPr b="0" i="0" sz="1600" u="none" cap="none" strike="noStrike">
              <a:solidFill>
                <a:schemeClr val="dk1"/>
              </a:solidFill>
              <a:latin typeface="Arial"/>
              <a:ea typeface="Arial"/>
              <a:cs typeface="Arial"/>
              <a:sym typeface="Arial"/>
            </a:endParaRPr>
          </a:p>
        </p:txBody>
      </p:sp>
      <p:sp>
        <p:nvSpPr>
          <p:cNvPr id="56" name="Google Shape;56;p7"/>
          <p:cNvSpPr txBox="1"/>
          <p:nvPr/>
        </p:nvSpPr>
        <p:spPr>
          <a:xfrm>
            <a:off x="6949440" y="5321808"/>
            <a:ext cx="43891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800"/>
              <a:buFont typeface="Arial"/>
              <a:buNone/>
            </a:pPr>
            <a:r>
              <a:rPr b="1" i="0" lang="en-US" sz="1800" u="none" cap="none" strike="noStrike">
                <a:solidFill>
                  <a:srgbClr val="0F172A"/>
                </a:solidFill>
                <a:latin typeface="Arial"/>
                <a:ea typeface="Arial"/>
                <a:cs typeface="Arial"/>
                <a:sym typeface="Arial"/>
              </a:rPr>
              <a:t>The wrong facility</a:t>
            </a:r>
            <a:endParaRPr b="0" i="0" sz="1800" u="none" cap="none" strike="noStrike">
              <a:solidFill>
                <a:schemeClr val="dk1"/>
              </a:solidFill>
              <a:latin typeface="Arial"/>
              <a:ea typeface="Arial"/>
              <a:cs typeface="Arial"/>
              <a:sym typeface="Arial"/>
            </a:endParaRPr>
          </a:p>
        </p:txBody>
      </p:sp>
      <p:sp>
        <p:nvSpPr>
          <p:cNvPr id="57" name="Google Shape;57;p7"/>
          <p:cNvSpPr txBox="1"/>
          <p:nvPr/>
        </p:nvSpPr>
        <p:spPr>
          <a:xfrm>
            <a:off x="6949440" y="5650992"/>
            <a:ext cx="4389120"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The nearest hospital is not always the right one</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8"/>
          <p:cNvSpPr txBox="1"/>
          <p:nvPr>
            <p:ph type="title"/>
          </p:nvPr>
        </p:nvSpPr>
        <p:spPr>
          <a:xfrm>
            <a:off x="640080" y="411480"/>
            <a:ext cx="10881360" cy="10515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172A"/>
              </a:buClr>
              <a:buSzPts val="3400"/>
              <a:buFont typeface="Arial"/>
              <a:buNone/>
            </a:pPr>
            <a:r>
              <a:rPr b="1" lang="en-US" sz="3400">
                <a:solidFill>
                  <a:srgbClr val="0F172A"/>
                </a:solidFill>
                <a:latin typeface="Arial"/>
                <a:ea typeface="Arial"/>
                <a:cs typeface="Arial"/>
                <a:sym typeface="Arial"/>
              </a:rPr>
              <a:t>One journey, from “something is wrong” to “I know what to do next”</a:t>
            </a:r>
            <a:endParaRPr sz="3400"/>
          </a:p>
        </p:txBody>
      </p:sp>
      <p:sp>
        <p:nvSpPr>
          <p:cNvPr id="64" name="Google Shape;64;p8"/>
          <p:cNvSpPr/>
          <p:nvPr/>
        </p:nvSpPr>
        <p:spPr>
          <a:xfrm>
            <a:off x="640080" y="1965960"/>
            <a:ext cx="2011680" cy="2240280"/>
          </a:xfrm>
          <a:prstGeom prst="roundRect">
            <a:avLst>
              <a:gd fmla="val 11364"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8"/>
          <p:cNvSpPr txBox="1"/>
          <p:nvPr/>
        </p:nvSpPr>
        <p:spPr>
          <a:xfrm>
            <a:off x="868680" y="2148840"/>
            <a:ext cx="7315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3200"/>
              <a:buFont typeface="Arial"/>
              <a:buNone/>
            </a:pPr>
            <a:r>
              <a:rPr b="1" i="0" lang="en-US" sz="3200" u="none" cap="none" strike="noStrike">
                <a:solidFill>
                  <a:srgbClr val="059669"/>
                </a:solidFill>
                <a:latin typeface="Arial"/>
                <a:ea typeface="Arial"/>
                <a:cs typeface="Arial"/>
                <a:sym typeface="Arial"/>
              </a:rPr>
              <a:t>1</a:t>
            </a:r>
            <a:endParaRPr b="0" i="0" sz="3200" u="none" cap="none" strike="noStrike">
              <a:solidFill>
                <a:schemeClr val="dk1"/>
              </a:solidFill>
              <a:latin typeface="Arial"/>
              <a:ea typeface="Arial"/>
              <a:cs typeface="Arial"/>
              <a:sym typeface="Arial"/>
            </a:endParaRPr>
          </a:p>
        </p:txBody>
      </p:sp>
      <p:sp>
        <p:nvSpPr>
          <p:cNvPr id="66" name="Google Shape;66;p8"/>
          <p:cNvSpPr txBox="1"/>
          <p:nvPr/>
        </p:nvSpPr>
        <p:spPr>
          <a:xfrm>
            <a:off x="868680" y="2788920"/>
            <a:ext cx="15544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200"/>
              <a:buFont typeface="Arial"/>
              <a:buNone/>
            </a:pPr>
            <a:r>
              <a:rPr b="1" i="0" lang="en-US" sz="2200" u="none" cap="none" strike="noStrike">
                <a:solidFill>
                  <a:srgbClr val="0F172A"/>
                </a:solidFill>
                <a:latin typeface="Arial"/>
                <a:ea typeface="Arial"/>
                <a:cs typeface="Arial"/>
                <a:sym typeface="Arial"/>
              </a:rPr>
              <a:t>Speak</a:t>
            </a:r>
            <a:endParaRPr b="0" i="0" sz="2200" u="none" cap="none" strike="noStrike">
              <a:solidFill>
                <a:schemeClr val="dk1"/>
              </a:solidFill>
              <a:latin typeface="Arial"/>
              <a:ea typeface="Arial"/>
              <a:cs typeface="Arial"/>
              <a:sym typeface="Arial"/>
            </a:endParaRPr>
          </a:p>
        </p:txBody>
      </p:sp>
      <p:sp>
        <p:nvSpPr>
          <p:cNvPr id="67" name="Google Shape;67;p8"/>
          <p:cNvSpPr txBox="1"/>
          <p:nvPr/>
        </p:nvSpPr>
        <p:spPr>
          <a:xfrm>
            <a:off x="868680" y="3246120"/>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Describe it by voice or text, in your language</a:t>
            </a:r>
            <a:endParaRPr b="0" i="0" sz="1400" u="none" cap="none" strike="noStrike">
              <a:solidFill>
                <a:schemeClr val="dk1"/>
              </a:solidFill>
              <a:latin typeface="Arial"/>
              <a:ea typeface="Arial"/>
              <a:cs typeface="Arial"/>
              <a:sym typeface="Arial"/>
            </a:endParaRPr>
          </a:p>
        </p:txBody>
      </p:sp>
      <p:sp>
        <p:nvSpPr>
          <p:cNvPr id="68" name="Google Shape;68;p8"/>
          <p:cNvSpPr/>
          <p:nvPr/>
        </p:nvSpPr>
        <p:spPr>
          <a:xfrm>
            <a:off x="2834640" y="1965960"/>
            <a:ext cx="2011680" cy="2240280"/>
          </a:xfrm>
          <a:prstGeom prst="roundRect">
            <a:avLst>
              <a:gd fmla="val 11364"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txBox="1"/>
          <p:nvPr/>
        </p:nvSpPr>
        <p:spPr>
          <a:xfrm>
            <a:off x="3063240" y="2148840"/>
            <a:ext cx="7315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3200"/>
              <a:buFont typeface="Arial"/>
              <a:buNone/>
            </a:pPr>
            <a:r>
              <a:rPr b="1" i="0" lang="en-US" sz="3200" u="none" cap="none" strike="noStrike">
                <a:solidFill>
                  <a:srgbClr val="059669"/>
                </a:solidFill>
                <a:latin typeface="Arial"/>
                <a:ea typeface="Arial"/>
                <a:cs typeface="Arial"/>
                <a:sym typeface="Arial"/>
              </a:rPr>
              <a:t>2</a:t>
            </a:r>
            <a:endParaRPr b="0" i="0" sz="3200" u="none" cap="none" strike="noStrike">
              <a:solidFill>
                <a:schemeClr val="dk1"/>
              </a:solidFill>
              <a:latin typeface="Arial"/>
              <a:ea typeface="Arial"/>
              <a:cs typeface="Arial"/>
              <a:sym typeface="Arial"/>
            </a:endParaRPr>
          </a:p>
        </p:txBody>
      </p:sp>
      <p:sp>
        <p:nvSpPr>
          <p:cNvPr id="70" name="Google Shape;70;p8"/>
          <p:cNvSpPr txBox="1"/>
          <p:nvPr/>
        </p:nvSpPr>
        <p:spPr>
          <a:xfrm>
            <a:off x="3063240" y="2788920"/>
            <a:ext cx="15544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200"/>
              <a:buFont typeface="Arial"/>
              <a:buNone/>
            </a:pPr>
            <a:r>
              <a:rPr b="1" i="0" lang="en-US" sz="2200" u="none" cap="none" strike="noStrike">
                <a:solidFill>
                  <a:srgbClr val="0F172A"/>
                </a:solidFill>
                <a:latin typeface="Arial"/>
                <a:ea typeface="Arial"/>
                <a:cs typeface="Arial"/>
                <a:sym typeface="Arial"/>
              </a:rPr>
              <a:t>Ask</a:t>
            </a:r>
            <a:endParaRPr b="0" i="0" sz="2200" u="none" cap="none" strike="noStrike">
              <a:solidFill>
                <a:schemeClr val="dk1"/>
              </a:solidFill>
              <a:latin typeface="Arial"/>
              <a:ea typeface="Arial"/>
              <a:cs typeface="Arial"/>
              <a:sym typeface="Arial"/>
            </a:endParaRPr>
          </a:p>
        </p:txBody>
      </p:sp>
      <p:sp>
        <p:nvSpPr>
          <p:cNvPr id="71" name="Google Shape;71;p8"/>
          <p:cNvSpPr txBox="1"/>
          <p:nvPr/>
        </p:nvSpPr>
        <p:spPr>
          <a:xfrm>
            <a:off x="3063240" y="3246120"/>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Targeted questions, one at a time</a:t>
            </a:r>
            <a:endParaRPr b="0" i="0" sz="1400" u="none" cap="none" strike="noStrike">
              <a:solidFill>
                <a:schemeClr val="dk1"/>
              </a:solidFill>
              <a:latin typeface="Arial"/>
              <a:ea typeface="Arial"/>
              <a:cs typeface="Arial"/>
              <a:sym typeface="Arial"/>
            </a:endParaRPr>
          </a:p>
        </p:txBody>
      </p:sp>
      <p:sp>
        <p:nvSpPr>
          <p:cNvPr id="72" name="Google Shape;72;p8"/>
          <p:cNvSpPr/>
          <p:nvPr/>
        </p:nvSpPr>
        <p:spPr>
          <a:xfrm>
            <a:off x="5029200" y="1965960"/>
            <a:ext cx="2011680" cy="2240280"/>
          </a:xfrm>
          <a:prstGeom prst="roundRect">
            <a:avLst>
              <a:gd fmla="val 11364"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txBox="1"/>
          <p:nvPr/>
        </p:nvSpPr>
        <p:spPr>
          <a:xfrm>
            <a:off x="5257800" y="2148840"/>
            <a:ext cx="7315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3200"/>
              <a:buFont typeface="Arial"/>
              <a:buNone/>
            </a:pPr>
            <a:r>
              <a:rPr b="1" i="0" lang="en-US" sz="3200" u="none" cap="none" strike="noStrike">
                <a:solidFill>
                  <a:srgbClr val="059669"/>
                </a:solidFill>
                <a:latin typeface="Arial"/>
                <a:ea typeface="Arial"/>
                <a:cs typeface="Arial"/>
                <a:sym typeface="Arial"/>
              </a:rPr>
              <a:t>3</a:t>
            </a:r>
            <a:endParaRPr b="0" i="0" sz="3200" u="none" cap="none" strike="noStrike">
              <a:solidFill>
                <a:schemeClr val="dk1"/>
              </a:solidFill>
              <a:latin typeface="Arial"/>
              <a:ea typeface="Arial"/>
              <a:cs typeface="Arial"/>
              <a:sym typeface="Arial"/>
            </a:endParaRPr>
          </a:p>
        </p:txBody>
      </p:sp>
      <p:sp>
        <p:nvSpPr>
          <p:cNvPr id="74" name="Google Shape;74;p8"/>
          <p:cNvSpPr txBox="1"/>
          <p:nvPr/>
        </p:nvSpPr>
        <p:spPr>
          <a:xfrm>
            <a:off x="5257800" y="2788920"/>
            <a:ext cx="15544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200"/>
              <a:buFont typeface="Arial"/>
              <a:buNone/>
            </a:pPr>
            <a:r>
              <a:rPr b="1" i="0" lang="en-US" sz="2200" u="none" cap="none" strike="noStrike">
                <a:solidFill>
                  <a:srgbClr val="0F172A"/>
                </a:solidFill>
                <a:latin typeface="Arial"/>
                <a:ea typeface="Arial"/>
                <a:cs typeface="Arial"/>
                <a:sym typeface="Arial"/>
              </a:rPr>
              <a:t>Assess</a:t>
            </a:r>
            <a:endParaRPr b="0" i="0" sz="2200" u="none" cap="none" strike="noStrike">
              <a:solidFill>
                <a:schemeClr val="dk1"/>
              </a:solidFill>
              <a:latin typeface="Arial"/>
              <a:ea typeface="Arial"/>
              <a:cs typeface="Arial"/>
              <a:sym typeface="Arial"/>
            </a:endParaRPr>
          </a:p>
        </p:txBody>
      </p:sp>
      <p:sp>
        <p:nvSpPr>
          <p:cNvPr id="75" name="Google Shape;75;p8"/>
          <p:cNvSpPr txBox="1"/>
          <p:nvPr/>
        </p:nvSpPr>
        <p:spPr>
          <a:xfrm>
            <a:off x="5257800" y="3246120"/>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Red flags checked. Urgency from Low to Critical</a:t>
            </a:r>
            <a:endParaRPr b="0" i="0" sz="1400" u="none" cap="none" strike="noStrike">
              <a:solidFill>
                <a:schemeClr val="dk1"/>
              </a:solidFill>
              <a:latin typeface="Arial"/>
              <a:ea typeface="Arial"/>
              <a:cs typeface="Arial"/>
              <a:sym typeface="Arial"/>
            </a:endParaRPr>
          </a:p>
        </p:txBody>
      </p:sp>
      <p:sp>
        <p:nvSpPr>
          <p:cNvPr id="76" name="Google Shape;76;p8"/>
          <p:cNvSpPr/>
          <p:nvPr/>
        </p:nvSpPr>
        <p:spPr>
          <a:xfrm>
            <a:off x="7223760" y="1965960"/>
            <a:ext cx="2011680" cy="2240280"/>
          </a:xfrm>
          <a:prstGeom prst="roundRect">
            <a:avLst>
              <a:gd fmla="val 11364"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txBox="1"/>
          <p:nvPr/>
        </p:nvSpPr>
        <p:spPr>
          <a:xfrm>
            <a:off x="7452360" y="2148840"/>
            <a:ext cx="7315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3200"/>
              <a:buFont typeface="Arial"/>
              <a:buNone/>
            </a:pPr>
            <a:r>
              <a:rPr b="1" i="0" lang="en-US" sz="3200" u="none" cap="none" strike="noStrike">
                <a:solidFill>
                  <a:srgbClr val="059669"/>
                </a:solidFill>
                <a:latin typeface="Arial"/>
                <a:ea typeface="Arial"/>
                <a:cs typeface="Arial"/>
                <a:sym typeface="Arial"/>
              </a:rPr>
              <a:t>4</a:t>
            </a:r>
            <a:endParaRPr b="0" i="0" sz="3200" u="none" cap="none" strike="noStrike">
              <a:solidFill>
                <a:schemeClr val="dk1"/>
              </a:solidFill>
              <a:latin typeface="Arial"/>
              <a:ea typeface="Arial"/>
              <a:cs typeface="Arial"/>
              <a:sym typeface="Arial"/>
            </a:endParaRPr>
          </a:p>
        </p:txBody>
      </p:sp>
      <p:sp>
        <p:nvSpPr>
          <p:cNvPr id="78" name="Google Shape;78;p8"/>
          <p:cNvSpPr txBox="1"/>
          <p:nvPr/>
        </p:nvSpPr>
        <p:spPr>
          <a:xfrm>
            <a:off x="7452360" y="2788920"/>
            <a:ext cx="15544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200"/>
              <a:buFont typeface="Arial"/>
              <a:buNone/>
            </a:pPr>
            <a:r>
              <a:rPr b="1" i="0" lang="en-US" sz="2200" u="none" cap="none" strike="noStrike">
                <a:solidFill>
                  <a:srgbClr val="0F172A"/>
                </a:solidFill>
                <a:latin typeface="Arial"/>
                <a:ea typeface="Arial"/>
                <a:cs typeface="Arial"/>
                <a:sym typeface="Arial"/>
              </a:rPr>
              <a:t>Guide</a:t>
            </a:r>
            <a:endParaRPr b="0" i="0" sz="2200" u="none" cap="none" strike="noStrike">
              <a:solidFill>
                <a:schemeClr val="dk1"/>
              </a:solidFill>
              <a:latin typeface="Arial"/>
              <a:ea typeface="Arial"/>
              <a:cs typeface="Arial"/>
              <a:sym typeface="Arial"/>
            </a:endParaRPr>
          </a:p>
        </p:txBody>
      </p:sp>
      <p:sp>
        <p:nvSpPr>
          <p:cNvPr id="79" name="Google Shape;79;p8"/>
          <p:cNvSpPr txBox="1"/>
          <p:nvPr/>
        </p:nvSpPr>
        <p:spPr>
          <a:xfrm>
            <a:off x="7452360" y="3246120"/>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Safe first-aid steps for the moment</a:t>
            </a:r>
            <a:endParaRPr b="0" i="0" sz="1400" u="none" cap="none" strike="noStrike">
              <a:solidFill>
                <a:schemeClr val="dk1"/>
              </a:solidFill>
              <a:latin typeface="Arial"/>
              <a:ea typeface="Arial"/>
              <a:cs typeface="Arial"/>
              <a:sym typeface="Arial"/>
            </a:endParaRPr>
          </a:p>
        </p:txBody>
      </p:sp>
      <p:sp>
        <p:nvSpPr>
          <p:cNvPr id="80" name="Google Shape;80;p8"/>
          <p:cNvSpPr/>
          <p:nvPr/>
        </p:nvSpPr>
        <p:spPr>
          <a:xfrm>
            <a:off x="9418320" y="1965960"/>
            <a:ext cx="2011680" cy="2240280"/>
          </a:xfrm>
          <a:prstGeom prst="roundRect">
            <a:avLst>
              <a:gd fmla="val 11364" name="adj"/>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txBox="1"/>
          <p:nvPr/>
        </p:nvSpPr>
        <p:spPr>
          <a:xfrm>
            <a:off x="9646920" y="2148840"/>
            <a:ext cx="7315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5</a:t>
            </a:r>
            <a:endParaRPr b="0" i="0" sz="3200" u="none" cap="none" strike="noStrike">
              <a:solidFill>
                <a:schemeClr val="dk1"/>
              </a:solidFill>
              <a:latin typeface="Arial"/>
              <a:ea typeface="Arial"/>
              <a:cs typeface="Arial"/>
              <a:sym typeface="Arial"/>
            </a:endParaRPr>
          </a:p>
        </p:txBody>
      </p:sp>
      <p:sp>
        <p:nvSpPr>
          <p:cNvPr id="82" name="Google Shape;82;p8"/>
          <p:cNvSpPr txBox="1"/>
          <p:nvPr/>
        </p:nvSpPr>
        <p:spPr>
          <a:xfrm>
            <a:off x="9646920" y="2788920"/>
            <a:ext cx="15544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Route</a:t>
            </a:r>
            <a:endParaRPr b="0" i="0" sz="2200" u="none" cap="none" strike="noStrike">
              <a:solidFill>
                <a:schemeClr val="dk1"/>
              </a:solidFill>
              <a:latin typeface="Arial"/>
              <a:ea typeface="Arial"/>
              <a:cs typeface="Arial"/>
              <a:sym typeface="Arial"/>
            </a:endParaRPr>
          </a:p>
        </p:txBody>
      </p:sp>
      <p:sp>
        <p:nvSpPr>
          <p:cNvPr id="83" name="Google Shape;83;p8"/>
          <p:cNvSpPr txBox="1"/>
          <p:nvPr/>
        </p:nvSpPr>
        <p:spPr>
          <a:xfrm>
            <a:off x="9646920" y="3246120"/>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The nearest suitable hospital, on a map</a:t>
            </a:r>
            <a:endParaRPr b="0" i="0" sz="1400" u="none" cap="none" strike="noStrike">
              <a:solidFill>
                <a:schemeClr val="dk1"/>
              </a:solidFill>
              <a:latin typeface="Arial"/>
              <a:ea typeface="Arial"/>
              <a:cs typeface="Arial"/>
              <a:sym typeface="Arial"/>
            </a:endParaRPr>
          </a:p>
        </p:txBody>
      </p:sp>
      <p:sp>
        <p:nvSpPr>
          <p:cNvPr id="84" name="Google Shape;84;p8"/>
          <p:cNvSpPr/>
          <p:nvPr/>
        </p:nvSpPr>
        <p:spPr>
          <a:xfrm>
            <a:off x="640080" y="4663440"/>
            <a:ext cx="10881360" cy="1143000"/>
          </a:xfrm>
          <a:prstGeom prst="roundRect">
            <a:avLst>
              <a:gd fmla="val 20000"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txBox="1"/>
          <p:nvPr/>
        </p:nvSpPr>
        <p:spPr>
          <a:xfrm>
            <a:off x="960120" y="4663440"/>
            <a:ext cx="1024128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Arial"/>
              <a:buNone/>
            </a:pPr>
            <a:r>
              <a:rPr b="1" i="0" lang="en-US" sz="1800" u="none" cap="none" strike="noStrike">
                <a:solidFill>
                  <a:srgbClr val="0F172A"/>
                </a:solidFill>
                <a:latin typeface="Arial"/>
                <a:ea typeface="Arial"/>
                <a:cs typeface="Arial"/>
                <a:sym typeface="Arial"/>
              </a:rPr>
              <a:t>Not a doctor. Not an emergency service. </a:t>
            </a:r>
            <a:r>
              <a:rPr b="0" i="0" lang="en-US" sz="1800" u="none" cap="none" strike="noStrike">
                <a:solidFill>
                  <a:srgbClr val="64748B"/>
                </a:solidFill>
                <a:latin typeface="Arial"/>
                <a:ea typeface="Arial"/>
                <a:cs typeface="Arial"/>
                <a:sym typeface="Arial"/>
              </a:rPr>
              <a:t>Alavia is the first point of guidance, and it sends serious cases to professional care.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9"/>
          <p:cNvSpPr txBox="1"/>
          <p:nvPr>
            <p:ph type="title"/>
          </p:nvPr>
        </p:nvSpPr>
        <p:spPr>
          <a:xfrm>
            <a:off x="640080" y="411480"/>
            <a:ext cx="10881360" cy="10515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172A"/>
              </a:buClr>
              <a:buSzPts val="3400"/>
              <a:buFont typeface="Arial"/>
              <a:buNone/>
            </a:pPr>
            <a:r>
              <a:rPr b="1" lang="en-US" sz="3400">
                <a:solidFill>
                  <a:srgbClr val="0F172A"/>
                </a:solidFill>
                <a:latin typeface="Arial"/>
                <a:ea typeface="Arial"/>
                <a:cs typeface="Arial"/>
                <a:sym typeface="Arial"/>
              </a:rPr>
              <a:t>Live today: the whole journey, end to end</a:t>
            </a:r>
            <a:endParaRPr sz="3400"/>
          </a:p>
        </p:txBody>
      </p:sp>
      <p:pic>
        <p:nvPicPr>
          <p:cNvPr descr="Language selection screen" id="92" name="Google Shape;92;p9"/>
          <p:cNvPicPr preferRelativeResize="0"/>
          <p:nvPr/>
        </p:nvPicPr>
        <p:blipFill rotWithShape="1">
          <a:blip r:embed="rId3">
            <a:alphaModFix/>
          </a:blip>
          <a:srcRect b="0" l="0" r="0" t="0"/>
          <a:stretch/>
        </p:blipFill>
        <p:spPr>
          <a:xfrm>
            <a:off x="676656" y="1371600"/>
            <a:ext cx="2194560" cy="4745736"/>
          </a:xfrm>
          <a:prstGeom prst="rect">
            <a:avLst/>
          </a:prstGeom>
          <a:noFill/>
          <a:ln>
            <a:noFill/>
          </a:ln>
        </p:spPr>
      </p:pic>
      <p:sp>
        <p:nvSpPr>
          <p:cNvPr id="93" name="Google Shape;93;p9"/>
          <p:cNvSpPr txBox="1"/>
          <p:nvPr/>
        </p:nvSpPr>
        <p:spPr>
          <a:xfrm>
            <a:off x="356616" y="6217920"/>
            <a:ext cx="283464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72A"/>
              </a:buClr>
              <a:buSzPts val="1400"/>
              <a:buFont typeface="Arial"/>
              <a:buNone/>
            </a:pPr>
            <a:r>
              <a:rPr b="1" i="0" lang="en-US" sz="1400" u="none" cap="none" strike="noStrike">
                <a:solidFill>
                  <a:srgbClr val="0F172A"/>
                </a:solidFill>
                <a:latin typeface="Arial"/>
                <a:ea typeface="Arial"/>
                <a:cs typeface="Arial"/>
                <a:sym typeface="Arial"/>
              </a:rPr>
              <a:t>Pick your language</a:t>
            </a:r>
            <a:endParaRPr b="0" i="0" sz="1400" u="none" cap="none" strike="noStrike">
              <a:solidFill>
                <a:schemeClr val="dk1"/>
              </a:solidFill>
              <a:latin typeface="Arial"/>
              <a:ea typeface="Arial"/>
              <a:cs typeface="Arial"/>
              <a:sym typeface="Arial"/>
            </a:endParaRPr>
          </a:p>
        </p:txBody>
      </p:sp>
      <p:pic>
        <p:nvPicPr>
          <p:cNvPr descr="Home screen in Yoruba" id="94" name="Google Shape;94;p9"/>
          <p:cNvPicPr preferRelativeResize="0"/>
          <p:nvPr/>
        </p:nvPicPr>
        <p:blipFill rotWithShape="1">
          <a:blip r:embed="rId4">
            <a:alphaModFix/>
          </a:blip>
          <a:srcRect b="0" l="0" r="0" t="0"/>
          <a:stretch/>
        </p:blipFill>
        <p:spPr>
          <a:xfrm>
            <a:off x="3557016" y="1371600"/>
            <a:ext cx="2194560" cy="4745736"/>
          </a:xfrm>
          <a:prstGeom prst="rect">
            <a:avLst/>
          </a:prstGeom>
          <a:noFill/>
          <a:ln>
            <a:noFill/>
          </a:ln>
        </p:spPr>
      </p:pic>
      <p:sp>
        <p:nvSpPr>
          <p:cNvPr id="95" name="Google Shape;95;p9"/>
          <p:cNvSpPr txBox="1"/>
          <p:nvPr/>
        </p:nvSpPr>
        <p:spPr>
          <a:xfrm>
            <a:off x="3236976" y="6217920"/>
            <a:ext cx="283464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72A"/>
              </a:buClr>
              <a:buSzPts val="1400"/>
              <a:buFont typeface="Arial"/>
              <a:buNone/>
            </a:pPr>
            <a:r>
              <a:rPr b="1" i="0" lang="en-US" sz="1400" u="none" cap="none" strike="noStrike">
                <a:solidFill>
                  <a:srgbClr val="0F172A"/>
                </a:solidFill>
                <a:latin typeface="Arial"/>
                <a:ea typeface="Arial"/>
                <a:cs typeface="Arial"/>
                <a:sym typeface="Arial"/>
              </a:rPr>
              <a:t>The whole app speaks it</a:t>
            </a:r>
            <a:endParaRPr b="0" i="0" sz="1400" u="none" cap="none" strike="noStrike">
              <a:solidFill>
                <a:schemeClr val="dk1"/>
              </a:solidFill>
              <a:latin typeface="Arial"/>
              <a:ea typeface="Arial"/>
              <a:cs typeface="Arial"/>
              <a:sym typeface="Arial"/>
            </a:endParaRPr>
          </a:p>
        </p:txBody>
      </p:sp>
      <p:pic>
        <p:nvPicPr>
          <p:cNvPr descr="Critical urgency result with first-aid steps" id="96" name="Google Shape;96;p9"/>
          <p:cNvPicPr preferRelativeResize="0"/>
          <p:nvPr/>
        </p:nvPicPr>
        <p:blipFill rotWithShape="1">
          <a:blip r:embed="rId5">
            <a:alphaModFix/>
          </a:blip>
          <a:srcRect b="0" l="0" r="0" t="0"/>
          <a:stretch/>
        </p:blipFill>
        <p:spPr>
          <a:xfrm>
            <a:off x="6437376" y="1371600"/>
            <a:ext cx="2194560" cy="4745736"/>
          </a:xfrm>
          <a:prstGeom prst="rect">
            <a:avLst/>
          </a:prstGeom>
          <a:noFill/>
          <a:ln>
            <a:noFill/>
          </a:ln>
        </p:spPr>
      </p:pic>
      <p:sp>
        <p:nvSpPr>
          <p:cNvPr id="97" name="Google Shape;97;p9"/>
          <p:cNvSpPr txBox="1"/>
          <p:nvPr/>
        </p:nvSpPr>
        <p:spPr>
          <a:xfrm>
            <a:off x="6117336" y="6217920"/>
            <a:ext cx="283464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72A"/>
              </a:buClr>
              <a:buSzPts val="1400"/>
              <a:buFont typeface="Arial"/>
              <a:buNone/>
            </a:pPr>
            <a:r>
              <a:rPr b="1" i="0" lang="en-US" sz="1400" u="none" cap="none" strike="noStrike">
                <a:solidFill>
                  <a:srgbClr val="0F172A"/>
                </a:solidFill>
                <a:latin typeface="Arial"/>
                <a:ea typeface="Arial"/>
                <a:cs typeface="Arial"/>
                <a:sym typeface="Arial"/>
              </a:rPr>
              <a:t>Urgency and first aid</a:t>
            </a:r>
            <a:endParaRPr b="0" i="0" sz="1400" u="none" cap="none" strike="noStrike">
              <a:solidFill>
                <a:schemeClr val="dk1"/>
              </a:solidFill>
              <a:latin typeface="Arial"/>
              <a:ea typeface="Arial"/>
              <a:cs typeface="Arial"/>
              <a:sym typeface="Arial"/>
            </a:endParaRPr>
          </a:p>
        </p:txBody>
      </p:sp>
      <p:pic>
        <p:nvPicPr>
          <p:cNvPr descr="Map of nearby hospitals" id="98" name="Google Shape;98;p9"/>
          <p:cNvPicPr preferRelativeResize="0"/>
          <p:nvPr/>
        </p:nvPicPr>
        <p:blipFill rotWithShape="1">
          <a:blip r:embed="rId6">
            <a:alphaModFix/>
          </a:blip>
          <a:srcRect b="0" l="0" r="0" t="0"/>
          <a:stretch/>
        </p:blipFill>
        <p:spPr>
          <a:xfrm>
            <a:off x="9317736" y="1371600"/>
            <a:ext cx="2194560" cy="4745736"/>
          </a:xfrm>
          <a:prstGeom prst="rect">
            <a:avLst/>
          </a:prstGeom>
          <a:noFill/>
          <a:ln>
            <a:noFill/>
          </a:ln>
        </p:spPr>
      </p:pic>
      <p:sp>
        <p:nvSpPr>
          <p:cNvPr id="99" name="Google Shape;99;p9"/>
          <p:cNvSpPr txBox="1"/>
          <p:nvPr/>
        </p:nvSpPr>
        <p:spPr>
          <a:xfrm>
            <a:off x="8997696" y="6217920"/>
            <a:ext cx="283464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172A"/>
              </a:buClr>
              <a:buSzPts val="1400"/>
              <a:buFont typeface="Arial"/>
              <a:buNone/>
            </a:pPr>
            <a:r>
              <a:rPr b="1" i="0" lang="en-US" sz="1400" u="none" cap="none" strike="noStrike">
                <a:solidFill>
                  <a:srgbClr val="0F172A"/>
                </a:solidFill>
                <a:latin typeface="Arial"/>
                <a:ea typeface="Arial"/>
                <a:cs typeface="Arial"/>
                <a:sym typeface="Arial"/>
              </a:rPr>
              <a:t>Nearest emergency hospital</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0"/>
          <p:cNvSpPr txBox="1"/>
          <p:nvPr>
            <p:ph type="title"/>
          </p:nvPr>
        </p:nvSpPr>
        <p:spPr>
          <a:xfrm>
            <a:off x="640080" y="411480"/>
            <a:ext cx="10881360" cy="10515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172A"/>
              </a:buClr>
              <a:buSzPts val="3400"/>
              <a:buFont typeface="Arial"/>
              <a:buNone/>
            </a:pPr>
            <a:r>
              <a:rPr b="1" lang="en-US" sz="3400">
                <a:solidFill>
                  <a:srgbClr val="0F172A"/>
                </a:solidFill>
                <a:latin typeface="Arial"/>
                <a:ea typeface="Arial"/>
                <a:cs typeface="Arial"/>
                <a:sym typeface="Arial"/>
              </a:rPr>
              <a:t>Safety first, conversation second</a:t>
            </a:r>
            <a:endParaRPr sz="3400"/>
          </a:p>
        </p:txBody>
      </p:sp>
      <p:sp>
        <p:nvSpPr>
          <p:cNvPr id="106" name="Google Shape;106;p10"/>
          <p:cNvSpPr txBox="1"/>
          <p:nvPr/>
        </p:nvSpPr>
        <p:spPr>
          <a:xfrm>
            <a:off x="640080" y="1600200"/>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Four urgency levels</a:t>
            </a:r>
            <a:endParaRPr b="0" i="0" sz="2000" u="none" cap="none" strike="noStrike">
              <a:solidFill>
                <a:schemeClr val="dk1"/>
              </a:solidFill>
              <a:latin typeface="Arial"/>
              <a:ea typeface="Arial"/>
              <a:cs typeface="Arial"/>
              <a:sym typeface="Arial"/>
            </a:endParaRPr>
          </a:p>
        </p:txBody>
      </p:sp>
      <p:sp>
        <p:nvSpPr>
          <p:cNvPr id="107" name="Google Shape;107;p10"/>
          <p:cNvSpPr/>
          <p:nvPr/>
        </p:nvSpPr>
        <p:spPr>
          <a:xfrm>
            <a:off x="640080" y="2194560"/>
            <a:ext cx="1463040" cy="713232"/>
          </a:xfrm>
          <a:prstGeom prst="roundRect">
            <a:avLst>
              <a:gd fmla="val 50000" name="adj"/>
            </a:avLst>
          </a:prstGeom>
          <a:solidFill>
            <a:srgbClr val="10B981"/>
          </a:solidFill>
          <a:ln cap="flat" cmpd="sng" w="12700">
            <a:solidFill>
              <a:srgbClr val="10B98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0"/>
          <p:cNvSpPr txBox="1"/>
          <p:nvPr/>
        </p:nvSpPr>
        <p:spPr>
          <a:xfrm>
            <a:off x="640080" y="2194560"/>
            <a:ext cx="146304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Low</a:t>
            </a:r>
            <a:endParaRPr b="0" i="0" sz="1800" u="none" cap="none" strike="noStrike">
              <a:solidFill>
                <a:schemeClr val="dk1"/>
              </a:solidFill>
              <a:latin typeface="Arial"/>
              <a:ea typeface="Arial"/>
              <a:cs typeface="Arial"/>
              <a:sym typeface="Arial"/>
            </a:endParaRPr>
          </a:p>
        </p:txBody>
      </p:sp>
      <p:sp>
        <p:nvSpPr>
          <p:cNvPr id="109" name="Google Shape;109;p10"/>
          <p:cNvSpPr txBox="1"/>
          <p:nvPr/>
        </p:nvSpPr>
        <p:spPr>
          <a:xfrm>
            <a:off x="2331720" y="2194560"/>
            <a:ext cx="35661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Arial"/>
              <a:buNone/>
            </a:pPr>
            <a:r>
              <a:rPr b="0" i="0" lang="en-US" sz="1600" u="none" cap="none" strike="noStrike">
                <a:solidFill>
                  <a:srgbClr val="0F172A"/>
                </a:solidFill>
                <a:latin typeface="Arial"/>
                <a:ea typeface="Arial"/>
                <a:cs typeface="Arial"/>
                <a:sym typeface="Arial"/>
              </a:rPr>
              <a:t>Stable, no major warning signs</a:t>
            </a:r>
            <a:endParaRPr b="0" i="0" sz="1600" u="none" cap="none" strike="noStrike">
              <a:solidFill>
                <a:schemeClr val="dk1"/>
              </a:solidFill>
              <a:latin typeface="Arial"/>
              <a:ea typeface="Arial"/>
              <a:cs typeface="Arial"/>
              <a:sym typeface="Arial"/>
            </a:endParaRPr>
          </a:p>
        </p:txBody>
      </p:sp>
      <p:sp>
        <p:nvSpPr>
          <p:cNvPr id="110" name="Google Shape;110;p10"/>
          <p:cNvSpPr/>
          <p:nvPr/>
        </p:nvSpPr>
        <p:spPr>
          <a:xfrm>
            <a:off x="640080" y="3218688"/>
            <a:ext cx="1463040" cy="713232"/>
          </a:xfrm>
          <a:prstGeom prst="roundRect">
            <a:avLst>
              <a:gd fmla="val 50000"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0"/>
          <p:cNvSpPr txBox="1"/>
          <p:nvPr/>
        </p:nvSpPr>
        <p:spPr>
          <a:xfrm>
            <a:off x="640080" y="3218688"/>
            <a:ext cx="146304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Medium</a:t>
            </a:r>
            <a:endParaRPr b="0" i="0" sz="1800" u="none" cap="none" strike="noStrike">
              <a:solidFill>
                <a:schemeClr val="dk1"/>
              </a:solidFill>
              <a:latin typeface="Arial"/>
              <a:ea typeface="Arial"/>
              <a:cs typeface="Arial"/>
              <a:sym typeface="Arial"/>
            </a:endParaRPr>
          </a:p>
        </p:txBody>
      </p:sp>
      <p:sp>
        <p:nvSpPr>
          <p:cNvPr id="112" name="Google Shape;112;p10"/>
          <p:cNvSpPr txBox="1"/>
          <p:nvPr/>
        </p:nvSpPr>
        <p:spPr>
          <a:xfrm>
            <a:off x="2331720" y="3218688"/>
            <a:ext cx="35661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Arial"/>
              <a:buNone/>
            </a:pPr>
            <a:r>
              <a:rPr b="0" i="0" lang="en-US" sz="1600" u="none" cap="none" strike="noStrike">
                <a:solidFill>
                  <a:srgbClr val="0F172A"/>
                </a:solidFill>
                <a:latin typeface="Arial"/>
                <a:ea typeface="Arial"/>
                <a:cs typeface="Arial"/>
                <a:sym typeface="Arial"/>
              </a:rPr>
              <a:t>May need care soon, not an emergency now</a:t>
            </a:r>
            <a:endParaRPr b="0" i="0" sz="1600" u="none" cap="none" strike="noStrike">
              <a:solidFill>
                <a:schemeClr val="dk1"/>
              </a:solidFill>
              <a:latin typeface="Arial"/>
              <a:ea typeface="Arial"/>
              <a:cs typeface="Arial"/>
              <a:sym typeface="Arial"/>
            </a:endParaRPr>
          </a:p>
        </p:txBody>
      </p:sp>
      <p:sp>
        <p:nvSpPr>
          <p:cNvPr id="113" name="Google Shape;113;p10"/>
          <p:cNvSpPr/>
          <p:nvPr/>
        </p:nvSpPr>
        <p:spPr>
          <a:xfrm>
            <a:off x="640080" y="4242816"/>
            <a:ext cx="1463040" cy="713232"/>
          </a:xfrm>
          <a:prstGeom prst="roundRect">
            <a:avLst>
              <a:gd fmla="val 50000" name="adj"/>
            </a:avLst>
          </a:prstGeom>
          <a:solidFill>
            <a:srgbClr val="EA580C"/>
          </a:solidFill>
          <a:ln cap="flat" cmpd="sng" w="12700">
            <a:solidFill>
              <a:srgbClr val="EA58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txBox="1"/>
          <p:nvPr/>
        </p:nvSpPr>
        <p:spPr>
          <a:xfrm>
            <a:off x="640080" y="4242816"/>
            <a:ext cx="146304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High</a:t>
            </a:r>
            <a:endParaRPr b="0" i="0" sz="1800" u="none" cap="none" strike="noStrike">
              <a:solidFill>
                <a:schemeClr val="dk1"/>
              </a:solidFill>
              <a:latin typeface="Arial"/>
              <a:ea typeface="Arial"/>
              <a:cs typeface="Arial"/>
              <a:sym typeface="Arial"/>
            </a:endParaRPr>
          </a:p>
        </p:txBody>
      </p:sp>
      <p:sp>
        <p:nvSpPr>
          <p:cNvPr id="115" name="Google Shape;115;p10"/>
          <p:cNvSpPr txBox="1"/>
          <p:nvPr/>
        </p:nvSpPr>
        <p:spPr>
          <a:xfrm>
            <a:off x="2331720" y="4242816"/>
            <a:ext cx="35661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Arial"/>
              <a:buNone/>
            </a:pPr>
            <a:r>
              <a:rPr b="0" i="0" lang="en-US" sz="1600" u="none" cap="none" strike="noStrike">
                <a:solidFill>
                  <a:srgbClr val="0F172A"/>
                </a:solidFill>
                <a:latin typeface="Arial"/>
                <a:ea typeface="Arial"/>
                <a:cs typeface="Arial"/>
                <a:sym typeface="Arial"/>
              </a:rPr>
              <a:t>Could be serious. Needs urgent assessment</a:t>
            </a:r>
            <a:endParaRPr b="0" i="0" sz="1600" u="none" cap="none" strike="noStrike">
              <a:solidFill>
                <a:schemeClr val="dk1"/>
              </a:solidFill>
              <a:latin typeface="Arial"/>
              <a:ea typeface="Arial"/>
              <a:cs typeface="Arial"/>
              <a:sym typeface="Arial"/>
            </a:endParaRPr>
          </a:p>
        </p:txBody>
      </p:sp>
      <p:sp>
        <p:nvSpPr>
          <p:cNvPr id="116" name="Google Shape;116;p10"/>
          <p:cNvSpPr/>
          <p:nvPr/>
        </p:nvSpPr>
        <p:spPr>
          <a:xfrm>
            <a:off x="640080" y="5266944"/>
            <a:ext cx="1463040" cy="713232"/>
          </a:xfrm>
          <a:prstGeom prst="roundRect">
            <a:avLst>
              <a:gd fmla="val 50000" name="adj"/>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0"/>
          <p:cNvSpPr txBox="1"/>
          <p:nvPr/>
        </p:nvSpPr>
        <p:spPr>
          <a:xfrm>
            <a:off x="640080" y="5266944"/>
            <a:ext cx="146304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Critical</a:t>
            </a:r>
            <a:endParaRPr b="0" i="0" sz="1800" u="none" cap="none" strike="noStrike">
              <a:solidFill>
                <a:schemeClr val="dk1"/>
              </a:solidFill>
              <a:latin typeface="Arial"/>
              <a:ea typeface="Arial"/>
              <a:cs typeface="Arial"/>
              <a:sym typeface="Arial"/>
            </a:endParaRPr>
          </a:p>
        </p:txBody>
      </p:sp>
      <p:sp>
        <p:nvSpPr>
          <p:cNvPr id="118" name="Google Shape;118;p10"/>
          <p:cNvSpPr txBox="1"/>
          <p:nvPr/>
        </p:nvSpPr>
        <p:spPr>
          <a:xfrm>
            <a:off x="2331720" y="5266944"/>
            <a:ext cx="35661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600"/>
              <a:buFont typeface="Arial"/>
              <a:buNone/>
            </a:pPr>
            <a:r>
              <a:rPr b="0" i="0" lang="en-US" sz="1600" u="none" cap="none" strike="noStrike">
                <a:solidFill>
                  <a:srgbClr val="0F172A"/>
                </a:solidFill>
                <a:latin typeface="Arial"/>
                <a:ea typeface="Arial"/>
                <a:cs typeface="Arial"/>
                <a:sym typeface="Arial"/>
              </a:rPr>
              <a:t>Possible emergency. Get professional care now</a:t>
            </a:r>
            <a:endParaRPr b="0" i="0" sz="1600" u="none" cap="none" strike="noStrike">
              <a:solidFill>
                <a:schemeClr val="dk1"/>
              </a:solidFill>
              <a:latin typeface="Arial"/>
              <a:ea typeface="Arial"/>
              <a:cs typeface="Arial"/>
              <a:sym typeface="Arial"/>
            </a:endParaRPr>
          </a:p>
        </p:txBody>
      </p:sp>
      <p:sp>
        <p:nvSpPr>
          <p:cNvPr id="119" name="Google Shape;119;p10"/>
          <p:cNvSpPr/>
          <p:nvPr/>
        </p:nvSpPr>
        <p:spPr>
          <a:xfrm>
            <a:off x="6446520" y="1600200"/>
            <a:ext cx="5074920" cy="1371600"/>
          </a:xfrm>
          <a:prstGeom prst="roundRect">
            <a:avLst>
              <a:gd fmla="val 16667"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0"/>
          <p:cNvSpPr txBox="1"/>
          <p:nvPr/>
        </p:nvSpPr>
        <p:spPr>
          <a:xfrm>
            <a:off x="6720840" y="1737360"/>
            <a:ext cx="4572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700"/>
              <a:buFont typeface="Arial"/>
              <a:buNone/>
            </a:pPr>
            <a:r>
              <a:rPr b="1" i="0" lang="en-US" sz="1700" u="none" cap="none" strike="noStrike">
                <a:solidFill>
                  <a:srgbClr val="0F172A"/>
                </a:solidFill>
                <a:latin typeface="Arial"/>
                <a:ea typeface="Arial"/>
                <a:cs typeface="Arial"/>
                <a:sym typeface="Arial"/>
              </a:rPr>
              <a:t>Red flags escalate at once</a:t>
            </a:r>
            <a:endParaRPr b="0" i="0" sz="1700" u="none" cap="none" strike="noStrike">
              <a:solidFill>
                <a:schemeClr val="dk1"/>
              </a:solidFill>
              <a:latin typeface="Arial"/>
              <a:ea typeface="Arial"/>
              <a:cs typeface="Arial"/>
              <a:sym typeface="Arial"/>
            </a:endParaRPr>
          </a:p>
        </p:txBody>
      </p:sp>
      <p:sp>
        <p:nvSpPr>
          <p:cNvPr id="121" name="Google Shape;121;p10"/>
          <p:cNvSpPr txBox="1"/>
          <p:nvPr/>
        </p:nvSpPr>
        <p:spPr>
          <a:xfrm>
            <a:off x="6720840" y="2103120"/>
            <a:ext cx="45720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Trouble breathing, chest pain, heavy bleeding, collapse and stroke signs are recognised in English, Pidgin, Yoruba, Hausa and Igbo.</a:t>
            </a:r>
            <a:endParaRPr b="0" i="0" sz="1400" u="none" cap="none" strike="noStrike">
              <a:solidFill>
                <a:schemeClr val="dk1"/>
              </a:solidFill>
              <a:latin typeface="Arial"/>
              <a:ea typeface="Arial"/>
              <a:cs typeface="Arial"/>
              <a:sym typeface="Arial"/>
            </a:endParaRPr>
          </a:p>
        </p:txBody>
      </p:sp>
      <p:sp>
        <p:nvSpPr>
          <p:cNvPr id="122" name="Google Shape;122;p10"/>
          <p:cNvSpPr/>
          <p:nvPr/>
        </p:nvSpPr>
        <p:spPr>
          <a:xfrm>
            <a:off x="6446520" y="3154680"/>
            <a:ext cx="5074920" cy="1371600"/>
          </a:xfrm>
          <a:prstGeom prst="roundRect">
            <a:avLst>
              <a:gd fmla="val 16667"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0"/>
          <p:cNvSpPr txBox="1"/>
          <p:nvPr/>
        </p:nvSpPr>
        <p:spPr>
          <a:xfrm>
            <a:off x="6720840" y="3291840"/>
            <a:ext cx="4572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700"/>
              <a:buFont typeface="Arial"/>
              <a:buNone/>
            </a:pPr>
            <a:r>
              <a:rPr b="1" i="0" lang="en-US" sz="1700" u="none" cap="none" strike="noStrike">
                <a:solidFill>
                  <a:srgbClr val="0F172A"/>
                </a:solidFill>
                <a:latin typeface="Arial"/>
                <a:ea typeface="Arial"/>
                <a:cs typeface="Arial"/>
                <a:sym typeface="Arial"/>
              </a:rPr>
              <a:t>It checks back on you</a:t>
            </a:r>
            <a:endParaRPr b="0" i="0" sz="1700" u="none" cap="none" strike="noStrike">
              <a:solidFill>
                <a:schemeClr val="dk1"/>
              </a:solidFill>
              <a:latin typeface="Arial"/>
              <a:ea typeface="Arial"/>
              <a:cs typeface="Arial"/>
              <a:sym typeface="Arial"/>
            </a:endParaRPr>
          </a:p>
        </p:txBody>
      </p:sp>
      <p:sp>
        <p:nvSpPr>
          <p:cNvPr id="124" name="Google Shape;124;p10"/>
          <p:cNvSpPr txBox="1"/>
          <p:nvPr/>
        </p:nvSpPr>
        <p:spPr>
          <a:xfrm>
            <a:off x="6720840" y="3657600"/>
            <a:ext cx="45720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Later, Alavia asks how you feel now. Answer “worse” and emergency help opens straight away.</a:t>
            </a:r>
            <a:endParaRPr b="0" i="0" sz="1400" u="none" cap="none" strike="noStrike">
              <a:solidFill>
                <a:schemeClr val="dk1"/>
              </a:solidFill>
              <a:latin typeface="Arial"/>
              <a:ea typeface="Arial"/>
              <a:cs typeface="Arial"/>
              <a:sym typeface="Arial"/>
            </a:endParaRPr>
          </a:p>
        </p:txBody>
      </p:sp>
      <p:sp>
        <p:nvSpPr>
          <p:cNvPr id="125" name="Google Shape;125;p10"/>
          <p:cNvSpPr/>
          <p:nvPr/>
        </p:nvSpPr>
        <p:spPr>
          <a:xfrm>
            <a:off x="6446520" y="4709160"/>
            <a:ext cx="5074920" cy="1371600"/>
          </a:xfrm>
          <a:prstGeom prst="roundRect">
            <a:avLst>
              <a:gd fmla="val 16667"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p:cNvSpPr txBox="1"/>
          <p:nvPr/>
        </p:nvSpPr>
        <p:spPr>
          <a:xfrm>
            <a:off x="6720840" y="4846320"/>
            <a:ext cx="4572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700"/>
              <a:buFont typeface="Arial"/>
              <a:buNone/>
            </a:pPr>
            <a:r>
              <a:rPr b="1" i="0" lang="en-US" sz="1700" u="none" cap="none" strike="noStrike">
                <a:solidFill>
                  <a:srgbClr val="0F172A"/>
                </a:solidFill>
                <a:latin typeface="Arial"/>
                <a:ea typeface="Arial"/>
                <a:cs typeface="Arial"/>
                <a:sym typeface="Arial"/>
              </a:rPr>
              <a:t>Never a diagnosis</a:t>
            </a:r>
            <a:endParaRPr b="0" i="0" sz="1700" u="none" cap="none" strike="noStrike">
              <a:solidFill>
                <a:schemeClr val="dk1"/>
              </a:solidFill>
              <a:latin typeface="Arial"/>
              <a:ea typeface="Arial"/>
              <a:cs typeface="Arial"/>
              <a:sym typeface="Arial"/>
            </a:endParaRPr>
          </a:p>
        </p:txBody>
      </p:sp>
      <p:sp>
        <p:nvSpPr>
          <p:cNvPr id="127" name="Google Shape;127;p10"/>
          <p:cNvSpPr txBox="1"/>
          <p:nvPr/>
        </p:nvSpPr>
        <p:spPr>
          <a:xfrm>
            <a:off x="6720840" y="5212080"/>
            <a:ext cx="45720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No prescribing and no dosing. The limits are stated plainly to every user.</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1"/>
          <p:cNvSpPr txBox="1"/>
          <p:nvPr>
            <p:ph type="title"/>
          </p:nvPr>
        </p:nvSpPr>
        <p:spPr>
          <a:xfrm>
            <a:off x="640080" y="411480"/>
            <a:ext cx="10881360" cy="10515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172A"/>
              </a:buClr>
              <a:buSzPts val="3400"/>
              <a:buFont typeface="Arial"/>
              <a:buNone/>
            </a:pPr>
            <a:r>
              <a:rPr b="1" lang="en-US" sz="3400">
                <a:solidFill>
                  <a:srgbClr val="0F172A"/>
                </a:solidFill>
                <a:latin typeface="Arial"/>
                <a:ea typeface="Arial"/>
                <a:cs typeface="Arial"/>
                <a:sym typeface="Arial"/>
              </a:rPr>
              <a:t>Free for people, funded by the healthcare system around them</a:t>
            </a:r>
            <a:endParaRPr sz="3400"/>
          </a:p>
        </p:txBody>
      </p:sp>
      <p:sp>
        <p:nvSpPr>
          <p:cNvPr id="134" name="Google Shape;134;p11"/>
          <p:cNvSpPr txBox="1"/>
          <p:nvPr/>
        </p:nvSpPr>
        <p:spPr>
          <a:xfrm>
            <a:off x="640080" y="1691640"/>
            <a:ext cx="4389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Who it serves</a:t>
            </a:r>
            <a:endParaRPr b="0" i="0" sz="2000" u="none" cap="none" strike="noStrike">
              <a:solidFill>
                <a:schemeClr val="dk1"/>
              </a:solidFill>
              <a:latin typeface="Arial"/>
              <a:ea typeface="Arial"/>
              <a:cs typeface="Arial"/>
              <a:sym typeface="Arial"/>
            </a:endParaRPr>
          </a:p>
        </p:txBody>
      </p:sp>
      <p:sp>
        <p:nvSpPr>
          <p:cNvPr id="135" name="Google Shape;135;p11"/>
          <p:cNvSpPr/>
          <p:nvPr/>
        </p:nvSpPr>
        <p:spPr>
          <a:xfrm>
            <a:off x="640080" y="2395728"/>
            <a:ext cx="182880" cy="182880"/>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1"/>
          <p:cNvSpPr txBox="1"/>
          <p:nvPr/>
        </p:nvSpPr>
        <p:spPr>
          <a:xfrm>
            <a:off x="1005840" y="2286000"/>
            <a:ext cx="4023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Arial"/>
              <a:buNone/>
            </a:pPr>
            <a:r>
              <a:rPr b="0" i="0" lang="en-US" sz="1800" u="none" cap="none" strike="noStrike">
                <a:solidFill>
                  <a:srgbClr val="0F172A"/>
                </a:solidFill>
                <a:latin typeface="Arial"/>
                <a:ea typeface="Arial"/>
                <a:cs typeface="Arial"/>
                <a:sym typeface="Arial"/>
              </a:rPr>
              <a:t>Individuals and families</a:t>
            </a:r>
            <a:endParaRPr b="0" i="0" sz="1800" u="none" cap="none" strike="noStrike">
              <a:solidFill>
                <a:schemeClr val="dk1"/>
              </a:solidFill>
              <a:latin typeface="Arial"/>
              <a:ea typeface="Arial"/>
              <a:cs typeface="Arial"/>
              <a:sym typeface="Arial"/>
            </a:endParaRPr>
          </a:p>
        </p:txBody>
      </p:sp>
      <p:sp>
        <p:nvSpPr>
          <p:cNvPr id="137" name="Google Shape;137;p11"/>
          <p:cNvSpPr/>
          <p:nvPr/>
        </p:nvSpPr>
        <p:spPr>
          <a:xfrm>
            <a:off x="640080" y="3035808"/>
            <a:ext cx="182880" cy="182880"/>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p:cNvSpPr txBox="1"/>
          <p:nvPr/>
        </p:nvSpPr>
        <p:spPr>
          <a:xfrm>
            <a:off x="1005840" y="2926080"/>
            <a:ext cx="4023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Arial"/>
              <a:buNone/>
            </a:pPr>
            <a:r>
              <a:rPr b="0" i="0" lang="en-US" sz="1800" u="none" cap="none" strike="noStrike">
                <a:solidFill>
                  <a:srgbClr val="0F172A"/>
                </a:solidFill>
                <a:latin typeface="Arial"/>
                <a:ea typeface="Arial"/>
                <a:cs typeface="Arial"/>
                <a:sym typeface="Arial"/>
              </a:rPr>
              <a:t>Hospitals and clinics</a:t>
            </a:r>
            <a:endParaRPr b="0" i="0" sz="1800" u="none" cap="none" strike="noStrike">
              <a:solidFill>
                <a:schemeClr val="dk1"/>
              </a:solidFill>
              <a:latin typeface="Arial"/>
              <a:ea typeface="Arial"/>
              <a:cs typeface="Arial"/>
              <a:sym typeface="Arial"/>
            </a:endParaRPr>
          </a:p>
        </p:txBody>
      </p:sp>
      <p:sp>
        <p:nvSpPr>
          <p:cNvPr id="139" name="Google Shape;139;p11"/>
          <p:cNvSpPr/>
          <p:nvPr/>
        </p:nvSpPr>
        <p:spPr>
          <a:xfrm>
            <a:off x="640080" y="3675888"/>
            <a:ext cx="182880" cy="182880"/>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1"/>
          <p:cNvSpPr txBox="1"/>
          <p:nvPr/>
        </p:nvSpPr>
        <p:spPr>
          <a:xfrm>
            <a:off x="1005840" y="3566160"/>
            <a:ext cx="4023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Arial"/>
              <a:buNone/>
            </a:pPr>
            <a:r>
              <a:rPr b="0" i="0" lang="en-US" sz="1800" u="none" cap="none" strike="noStrike">
                <a:solidFill>
                  <a:srgbClr val="0F172A"/>
                </a:solidFill>
                <a:latin typeface="Arial"/>
                <a:ea typeface="Arial"/>
                <a:cs typeface="Arial"/>
                <a:sym typeface="Arial"/>
              </a:rPr>
              <a:t>HMOs</a:t>
            </a:r>
            <a:endParaRPr b="0" i="0" sz="1800" u="none" cap="none" strike="noStrike">
              <a:solidFill>
                <a:schemeClr val="dk1"/>
              </a:solidFill>
              <a:latin typeface="Arial"/>
              <a:ea typeface="Arial"/>
              <a:cs typeface="Arial"/>
              <a:sym typeface="Arial"/>
            </a:endParaRPr>
          </a:p>
        </p:txBody>
      </p:sp>
      <p:sp>
        <p:nvSpPr>
          <p:cNvPr id="141" name="Google Shape;141;p11"/>
          <p:cNvSpPr/>
          <p:nvPr/>
        </p:nvSpPr>
        <p:spPr>
          <a:xfrm>
            <a:off x="640080" y="4315968"/>
            <a:ext cx="182880" cy="182880"/>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txBox="1"/>
          <p:nvPr/>
        </p:nvSpPr>
        <p:spPr>
          <a:xfrm>
            <a:off x="1005840" y="4206240"/>
            <a:ext cx="4023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Arial"/>
              <a:buNone/>
            </a:pPr>
            <a:r>
              <a:rPr b="0" i="0" lang="en-US" sz="1800" u="none" cap="none" strike="noStrike">
                <a:solidFill>
                  <a:srgbClr val="0F172A"/>
                </a:solidFill>
                <a:latin typeface="Arial"/>
                <a:ea typeface="Arial"/>
                <a:cs typeface="Arial"/>
                <a:sym typeface="Arial"/>
              </a:rPr>
              <a:t>Employers and universities</a:t>
            </a:r>
            <a:endParaRPr b="0" i="0" sz="1800" u="none" cap="none" strike="noStrike">
              <a:solidFill>
                <a:schemeClr val="dk1"/>
              </a:solidFill>
              <a:latin typeface="Arial"/>
              <a:ea typeface="Arial"/>
              <a:cs typeface="Arial"/>
              <a:sym typeface="Arial"/>
            </a:endParaRPr>
          </a:p>
        </p:txBody>
      </p:sp>
      <p:sp>
        <p:nvSpPr>
          <p:cNvPr id="143" name="Google Shape;143;p11"/>
          <p:cNvSpPr/>
          <p:nvPr/>
        </p:nvSpPr>
        <p:spPr>
          <a:xfrm>
            <a:off x="640080" y="4956048"/>
            <a:ext cx="182880" cy="182880"/>
          </a:xfrm>
          <a:prstGeom prst="ellipse">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txBox="1"/>
          <p:nvPr/>
        </p:nvSpPr>
        <p:spPr>
          <a:xfrm>
            <a:off x="1005840" y="4846320"/>
            <a:ext cx="4023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800"/>
              <a:buFont typeface="Arial"/>
              <a:buNone/>
            </a:pPr>
            <a:r>
              <a:rPr b="0" i="0" lang="en-US" sz="1800" u="none" cap="none" strike="noStrike">
                <a:solidFill>
                  <a:srgbClr val="0F172A"/>
                </a:solidFill>
                <a:latin typeface="Arial"/>
                <a:ea typeface="Arial"/>
                <a:cs typeface="Arial"/>
                <a:sym typeface="Arial"/>
              </a:rPr>
              <a:t>NGOs and community programmes</a:t>
            </a:r>
            <a:endParaRPr b="0" i="0" sz="1800" u="none" cap="none" strike="noStrike">
              <a:solidFill>
                <a:schemeClr val="dk1"/>
              </a:solidFill>
              <a:latin typeface="Arial"/>
              <a:ea typeface="Arial"/>
              <a:cs typeface="Arial"/>
              <a:sym typeface="Arial"/>
            </a:endParaRPr>
          </a:p>
        </p:txBody>
      </p:sp>
      <p:sp>
        <p:nvSpPr>
          <p:cNvPr id="145" name="Google Shape;145;p11"/>
          <p:cNvSpPr/>
          <p:nvPr/>
        </p:nvSpPr>
        <p:spPr>
          <a:xfrm>
            <a:off x="640080" y="5577840"/>
            <a:ext cx="4389120" cy="685800"/>
          </a:xfrm>
          <a:prstGeom prst="roundRect">
            <a:avLst>
              <a:gd fmla="val 49333" name="adj"/>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txBox="1"/>
          <p:nvPr/>
        </p:nvSpPr>
        <p:spPr>
          <a:xfrm>
            <a:off x="640080" y="5577840"/>
            <a:ext cx="438912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First market: Lagos pilot</a:t>
            </a:r>
            <a:endParaRPr b="0" i="0" sz="1800" u="none" cap="none" strike="noStrike">
              <a:solidFill>
                <a:schemeClr val="dk1"/>
              </a:solidFill>
              <a:latin typeface="Arial"/>
              <a:ea typeface="Arial"/>
              <a:cs typeface="Arial"/>
              <a:sym typeface="Arial"/>
            </a:endParaRPr>
          </a:p>
        </p:txBody>
      </p:sp>
      <p:sp>
        <p:nvSpPr>
          <p:cNvPr id="147" name="Google Shape;147;p11"/>
          <p:cNvSpPr txBox="1"/>
          <p:nvPr/>
        </p:nvSpPr>
        <p:spPr>
          <a:xfrm>
            <a:off x="5669280" y="1691640"/>
            <a:ext cx="5852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How it earns</a:t>
            </a:r>
            <a:endParaRPr b="0" i="0" sz="2000" u="none" cap="none" strike="noStrike">
              <a:solidFill>
                <a:schemeClr val="dk1"/>
              </a:solidFill>
              <a:latin typeface="Arial"/>
              <a:ea typeface="Arial"/>
              <a:cs typeface="Arial"/>
              <a:sym typeface="Arial"/>
            </a:endParaRPr>
          </a:p>
        </p:txBody>
      </p:sp>
      <p:sp>
        <p:nvSpPr>
          <p:cNvPr id="148" name="Google Shape;148;p11"/>
          <p:cNvSpPr/>
          <p:nvPr/>
        </p:nvSpPr>
        <p:spPr>
          <a:xfrm>
            <a:off x="5669280" y="2286000"/>
            <a:ext cx="2834640" cy="1828800"/>
          </a:xfrm>
          <a:prstGeom prst="roundRect">
            <a:avLst>
              <a:gd fmla="val 125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txBox="1"/>
          <p:nvPr/>
        </p:nvSpPr>
        <p:spPr>
          <a:xfrm>
            <a:off x="5897880" y="2468880"/>
            <a:ext cx="23774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700"/>
              <a:buFont typeface="Arial"/>
              <a:buNone/>
            </a:pPr>
            <a:r>
              <a:rPr b="1" i="0" lang="en-US" sz="1700" u="none" cap="none" strike="noStrike">
                <a:solidFill>
                  <a:srgbClr val="0F172A"/>
                </a:solidFill>
                <a:latin typeface="Arial"/>
                <a:ea typeface="Arial"/>
                <a:cs typeface="Arial"/>
                <a:sym typeface="Arial"/>
              </a:rPr>
              <a:t>Hospital partnerships</a:t>
            </a:r>
            <a:endParaRPr b="0" i="0" sz="1700" u="none" cap="none" strike="noStrike">
              <a:solidFill>
                <a:schemeClr val="dk1"/>
              </a:solidFill>
              <a:latin typeface="Arial"/>
              <a:ea typeface="Arial"/>
              <a:cs typeface="Arial"/>
              <a:sym typeface="Arial"/>
            </a:endParaRPr>
          </a:p>
        </p:txBody>
      </p:sp>
      <p:sp>
        <p:nvSpPr>
          <p:cNvPr id="150" name="Google Shape;150;p11"/>
          <p:cNvSpPr txBox="1"/>
          <p:nvPr/>
        </p:nvSpPr>
        <p:spPr>
          <a:xfrm>
            <a:off x="5897880" y="2926080"/>
            <a:ext cx="23774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Verified profiles and better patient discovery</a:t>
            </a:r>
            <a:endParaRPr b="0" i="0" sz="1400" u="none" cap="none" strike="noStrike">
              <a:solidFill>
                <a:schemeClr val="dk1"/>
              </a:solidFill>
              <a:latin typeface="Arial"/>
              <a:ea typeface="Arial"/>
              <a:cs typeface="Arial"/>
              <a:sym typeface="Arial"/>
            </a:endParaRPr>
          </a:p>
        </p:txBody>
      </p:sp>
      <p:sp>
        <p:nvSpPr>
          <p:cNvPr id="151" name="Google Shape;151;p11"/>
          <p:cNvSpPr/>
          <p:nvPr/>
        </p:nvSpPr>
        <p:spPr>
          <a:xfrm>
            <a:off x="8686800" y="2286000"/>
            <a:ext cx="2834640" cy="1828800"/>
          </a:xfrm>
          <a:prstGeom prst="roundRect">
            <a:avLst>
              <a:gd fmla="val 125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txBox="1"/>
          <p:nvPr/>
        </p:nvSpPr>
        <p:spPr>
          <a:xfrm>
            <a:off x="8915400" y="2468880"/>
            <a:ext cx="23774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700"/>
              <a:buFont typeface="Arial"/>
              <a:buNone/>
            </a:pPr>
            <a:r>
              <a:rPr b="1" i="0" lang="en-US" sz="1700" u="none" cap="none" strike="noStrike">
                <a:solidFill>
                  <a:srgbClr val="0F172A"/>
                </a:solidFill>
                <a:latin typeface="Arial"/>
                <a:ea typeface="Arial"/>
                <a:cs typeface="Arial"/>
                <a:sym typeface="Arial"/>
              </a:rPr>
              <a:t>Hospital software</a:t>
            </a:r>
            <a:endParaRPr b="0" i="0" sz="1700" u="none" cap="none" strike="noStrike">
              <a:solidFill>
                <a:schemeClr val="dk1"/>
              </a:solidFill>
              <a:latin typeface="Arial"/>
              <a:ea typeface="Arial"/>
              <a:cs typeface="Arial"/>
              <a:sym typeface="Arial"/>
            </a:endParaRPr>
          </a:p>
        </p:txBody>
      </p:sp>
      <p:sp>
        <p:nvSpPr>
          <p:cNvPr id="153" name="Google Shape;153;p11"/>
          <p:cNvSpPr txBox="1"/>
          <p:nvPr/>
        </p:nvSpPr>
        <p:spPr>
          <a:xfrm>
            <a:off x="8915400" y="2926080"/>
            <a:ext cx="23774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Navigation, intake, referrals and analytics as a subscription</a:t>
            </a:r>
            <a:endParaRPr b="0" i="0" sz="1400" u="none" cap="none" strike="noStrike">
              <a:solidFill>
                <a:schemeClr val="dk1"/>
              </a:solidFill>
              <a:latin typeface="Arial"/>
              <a:ea typeface="Arial"/>
              <a:cs typeface="Arial"/>
              <a:sym typeface="Arial"/>
            </a:endParaRPr>
          </a:p>
        </p:txBody>
      </p:sp>
      <p:sp>
        <p:nvSpPr>
          <p:cNvPr id="154" name="Google Shape;154;p11"/>
          <p:cNvSpPr/>
          <p:nvPr/>
        </p:nvSpPr>
        <p:spPr>
          <a:xfrm>
            <a:off x="5669280" y="4297680"/>
            <a:ext cx="2834640" cy="1828800"/>
          </a:xfrm>
          <a:prstGeom prst="roundRect">
            <a:avLst>
              <a:gd fmla="val 125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txBox="1"/>
          <p:nvPr/>
        </p:nvSpPr>
        <p:spPr>
          <a:xfrm>
            <a:off x="5897880" y="4480560"/>
            <a:ext cx="23774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700"/>
              <a:buFont typeface="Arial"/>
              <a:buNone/>
            </a:pPr>
            <a:r>
              <a:rPr b="1" i="0" lang="en-US" sz="1700" u="none" cap="none" strike="noStrike">
                <a:solidFill>
                  <a:srgbClr val="0F172A"/>
                </a:solidFill>
                <a:latin typeface="Arial"/>
                <a:ea typeface="Arial"/>
                <a:cs typeface="Arial"/>
                <a:sym typeface="Arial"/>
              </a:rPr>
              <a:t>Institutions</a:t>
            </a:r>
            <a:endParaRPr b="0" i="0" sz="1700" u="none" cap="none" strike="noStrike">
              <a:solidFill>
                <a:schemeClr val="dk1"/>
              </a:solidFill>
              <a:latin typeface="Arial"/>
              <a:ea typeface="Arial"/>
              <a:cs typeface="Arial"/>
              <a:sym typeface="Arial"/>
            </a:endParaRPr>
          </a:p>
        </p:txBody>
      </p:sp>
      <p:sp>
        <p:nvSpPr>
          <p:cNvPr id="156" name="Google Shape;156;p11"/>
          <p:cNvSpPr txBox="1"/>
          <p:nvPr/>
        </p:nvSpPr>
        <p:spPr>
          <a:xfrm>
            <a:off x="5897880" y="4937760"/>
            <a:ext cx="23774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HMOs, employers, universities and NGOs offer Alavia to their people</a:t>
            </a:r>
            <a:endParaRPr b="0" i="0" sz="1400" u="none" cap="none" strike="noStrike">
              <a:solidFill>
                <a:schemeClr val="dk1"/>
              </a:solidFill>
              <a:latin typeface="Arial"/>
              <a:ea typeface="Arial"/>
              <a:cs typeface="Arial"/>
              <a:sym typeface="Arial"/>
            </a:endParaRPr>
          </a:p>
        </p:txBody>
      </p:sp>
      <p:sp>
        <p:nvSpPr>
          <p:cNvPr id="157" name="Google Shape;157;p11"/>
          <p:cNvSpPr/>
          <p:nvPr/>
        </p:nvSpPr>
        <p:spPr>
          <a:xfrm>
            <a:off x="8686800" y="4297680"/>
            <a:ext cx="2834640" cy="1828800"/>
          </a:xfrm>
          <a:prstGeom prst="roundRect">
            <a:avLst>
              <a:gd fmla="val 12500" name="adj"/>
            </a:avLst>
          </a:prstGeom>
          <a:solidFill>
            <a:srgbClr val="F1F5F9"/>
          </a:solidFill>
          <a:ln cap="flat" cmpd="sng" w="12700">
            <a:solidFill>
              <a:srgbClr val="F1F5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txBox="1"/>
          <p:nvPr/>
        </p:nvSpPr>
        <p:spPr>
          <a:xfrm>
            <a:off x="8915400" y="4480560"/>
            <a:ext cx="23774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1700"/>
              <a:buFont typeface="Arial"/>
              <a:buNone/>
            </a:pPr>
            <a:r>
              <a:rPr b="1" i="0" lang="en-US" sz="1700" u="none" cap="none" strike="noStrike">
                <a:solidFill>
                  <a:srgbClr val="0F172A"/>
                </a:solidFill>
                <a:latin typeface="Arial"/>
                <a:ea typeface="Arial"/>
                <a:cs typeface="Arial"/>
                <a:sym typeface="Arial"/>
              </a:rPr>
              <a:t>Consumer access</a:t>
            </a:r>
            <a:endParaRPr b="0" i="0" sz="1700" u="none" cap="none" strike="noStrike">
              <a:solidFill>
                <a:schemeClr val="dk1"/>
              </a:solidFill>
              <a:latin typeface="Arial"/>
              <a:ea typeface="Arial"/>
              <a:cs typeface="Arial"/>
              <a:sym typeface="Arial"/>
            </a:endParaRPr>
          </a:p>
        </p:txBody>
      </p:sp>
      <p:sp>
        <p:nvSpPr>
          <p:cNvPr id="159" name="Google Shape;159;p11"/>
          <p:cNvSpPr txBox="1"/>
          <p:nvPr/>
        </p:nvSpPr>
        <p:spPr>
          <a:xfrm>
            <a:off x="8915400" y="4937760"/>
            <a:ext cx="23774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Free or very low cost, so reach stays wide</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640080" y="411480"/>
            <a:ext cx="10881360" cy="10515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172A"/>
              </a:buClr>
              <a:buSzPts val="3400"/>
              <a:buFont typeface="Arial"/>
              <a:buNone/>
            </a:pPr>
            <a:r>
              <a:rPr b="1" lang="en-US" sz="3400">
                <a:solidFill>
                  <a:srgbClr val="0F172A"/>
                </a:solidFill>
                <a:latin typeface="Arial"/>
                <a:ea typeface="Arial"/>
                <a:cs typeface="Arial"/>
                <a:sym typeface="Arial"/>
              </a:rPr>
              <a:t>Start in Lagos, then grow through hospitals and communities</a:t>
            </a:r>
            <a:endParaRPr sz="3400"/>
          </a:p>
        </p:txBody>
      </p:sp>
      <p:sp>
        <p:nvSpPr>
          <p:cNvPr id="166" name="Google Shape;166;p12"/>
          <p:cNvSpPr/>
          <p:nvPr/>
        </p:nvSpPr>
        <p:spPr>
          <a:xfrm>
            <a:off x="640080" y="1691640"/>
            <a:ext cx="3429000" cy="1828800"/>
          </a:xfrm>
          <a:prstGeom prst="roundRect">
            <a:avLst>
              <a:gd fmla="val 12500" name="adj"/>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
          <p:cNvSpPr txBox="1"/>
          <p:nvPr/>
        </p:nvSpPr>
        <p:spPr>
          <a:xfrm>
            <a:off x="91440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FAE5"/>
              </a:buClr>
              <a:buSzPts val="1200"/>
              <a:buFont typeface="Arial"/>
              <a:buNone/>
            </a:pPr>
            <a:r>
              <a:rPr b="1" i="0" lang="en-US" spc="100" sz="1200" u="none" cap="none" strike="noStrike">
                <a:solidFill>
                  <a:srgbClr val="D1FAE5"/>
                </a:solidFill>
                <a:latin typeface="Arial"/>
                <a:ea typeface="Arial"/>
                <a:cs typeface="Arial"/>
                <a:sym typeface="Arial"/>
              </a:rPr>
              <a:t>Stage 1</a:t>
            </a:r>
            <a:endParaRPr b="0" i="0" sz="1200" u="none" cap="none" strike="noStrike">
              <a:solidFill>
                <a:schemeClr val="dk1"/>
              </a:solidFill>
              <a:latin typeface="Arial"/>
              <a:ea typeface="Arial"/>
              <a:cs typeface="Arial"/>
              <a:sym typeface="Arial"/>
            </a:endParaRPr>
          </a:p>
        </p:txBody>
      </p:sp>
      <p:sp>
        <p:nvSpPr>
          <p:cNvPr id="168" name="Google Shape;168;p12"/>
          <p:cNvSpPr txBox="1"/>
          <p:nvPr/>
        </p:nvSpPr>
        <p:spPr>
          <a:xfrm>
            <a:off x="91440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AI health companion</a:t>
            </a:r>
            <a:endParaRPr b="0" i="0" sz="2000" u="none" cap="none" strike="noStrike">
              <a:solidFill>
                <a:schemeClr val="dk1"/>
              </a:solidFill>
              <a:latin typeface="Arial"/>
              <a:ea typeface="Arial"/>
              <a:cs typeface="Arial"/>
              <a:sym typeface="Arial"/>
            </a:endParaRPr>
          </a:p>
        </p:txBody>
      </p:sp>
      <p:sp>
        <p:nvSpPr>
          <p:cNvPr id="169" name="Google Shape;169;p12"/>
          <p:cNvSpPr txBox="1"/>
          <p:nvPr/>
        </p:nvSpPr>
        <p:spPr>
          <a:xfrm>
            <a:off x="91440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Understand symptoms, ask the right questions, set urgency</a:t>
            </a:r>
            <a:endParaRPr b="0" i="0" sz="1400" u="none" cap="none" strike="noStrike">
              <a:solidFill>
                <a:schemeClr val="dk1"/>
              </a:solidFill>
              <a:latin typeface="Arial"/>
              <a:ea typeface="Arial"/>
              <a:cs typeface="Arial"/>
              <a:sym typeface="Arial"/>
            </a:endParaRPr>
          </a:p>
        </p:txBody>
      </p:sp>
      <p:sp>
        <p:nvSpPr>
          <p:cNvPr id="170" name="Google Shape;170;p12"/>
          <p:cNvSpPr/>
          <p:nvPr/>
        </p:nvSpPr>
        <p:spPr>
          <a:xfrm>
            <a:off x="2743200" y="1810512"/>
            <a:ext cx="1097280" cy="310896"/>
          </a:xfrm>
          <a:prstGeom prst="roundRect">
            <a:avLst>
              <a:gd fmla="val 50000"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2"/>
          <p:cNvSpPr txBox="1"/>
          <p:nvPr/>
        </p:nvSpPr>
        <p:spPr>
          <a:xfrm>
            <a:off x="2743200" y="1810512"/>
            <a:ext cx="10972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200"/>
              <a:buFont typeface="Arial"/>
              <a:buNone/>
            </a:pPr>
            <a:r>
              <a:rPr b="1" i="0" lang="en-US" sz="1200" u="none" cap="none" strike="noStrike">
                <a:solidFill>
                  <a:srgbClr val="059669"/>
                </a:solidFill>
                <a:latin typeface="Arial"/>
                <a:ea typeface="Arial"/>
                <a:cs typeface="Arial"/>
                <a:sym typeface="Arial"/>
              </a:rPr>
              <a:t>Built today</a:t>
            </a:r>
            <a:endParaRPr b="0" i="0" sz="1200" u="none" cap="none" strike="noStrike">
              <a:solidFill>
                <a:schemeClr val="dk1"/>
              </a:solidFill>
              <a:latin typeface="Arial"/>
              <a:ea typeface="Arial"/>
              <a:cs typeface="Arial"/>
              <a:sym typeface="Arial"/>
            </a:endParaRPr>
          </a:p>
        </p:txBody>
      </p:sp>
      <p:sp>
        <p:nvSpPr>
          <p:cNvPr id="172" name="Google Shape;172;p12"/>
          <p:cNvSpPr/>
          <p:nvPr/>
        </p:nvSpPr>
        <p:spPr>
          <a:xfrm>
            <a:off x="4366260" y="1691640"/>
            <a:ext cx="3429000" cy="1828800"/>
          </a:xfrm>
          <a:prstGeom prst="roundRect">
            <a:avLst>
              <a:gd fmla="val 125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2"/>
          <p:cNvSpPr txBox="1"/>
          <p:nvPr/>
        </p:nvSpPr>
        <p:spPr>
          <a:xfrm>
            <a:off x="464058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1200"/>
              <a:buFont typeface="Arial"/>
              <a:buNone/>
            </a:pPr>
            <a:r>
              <a:rPr b="1" i="0" lang="en-US" spc="100" sz="1200" u="none" cap="none" strike="noStrike">
                <a:solidFill>
                  <a:srgbClr val="059669"/>
                </a:solidFill>
                <a:latin typeface="Arial"/>
                <a:ea typeface="Arial"/>
                <a:cs typeface="Arial"/>
                <a:sym typeface="Arial"/>
              </a:rPr>
              <a:t>Stage 2</a:t>
            </a:r>
            <a:endParaRPr b="0" i="0" sz="1200" u="none" cap="none" strike="noStrike">
              <a:solidFill>
                <a:schemeClr val="dk1"/>
              </a:solidFill>
              <a:latin typeface="Arial"/>
              <a:ea typeface="Arial"/>
              <a:cs typeface="Arial"/>
              <a:sym typeface="Arial"/>
            </a:endParaRPr>
          </a:p>
        </p:txBody>
      </p:sp>
      <p:sp>
        <p:nvSpPr>
          <p:cNvPr id="174" name="Google Shape;174;p12"/>
          <p:cNvSpPr txBox="1"/>
          <p:nvPr/>
        </p:nvSpPr>
        <p:spPr>
          <a:xfrm>
            <a:off x="464058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Healthcare navigation</a:t>
            </a:r>
            <a:endParaRPr b="0" i="0" sz="2000" u="none" cap="none" strike="noStrike">
              <a:solidFill>
                <a:schemeClr val="dk1"/>
              </a:solidFill>
              <a:latin typeface="Arial"/>
              <a:ea typeface="Arial"/>
              <a:cs typeface="Arial"/>
              <a:sym typeface="Arial"/>
            </a:endParaRPr>
          </a:p>
        </p:txBody>
      </p:sp>
      <p:sp>
        <p:nvSpPr>
          <p:cNvPr id="175" name="Google Shape;175;p12"/>
          <p:cNvSpPr txBox="1"/>
          <p:nvPr/>
        </p:nvSpPr>
        <p:spPr>
          <a:xfrm>
            <a:off x="464058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Verified hospitals, clinics and professionals</a:t>
            </a:r>
            <a:endParaRPr b="0" i="0" sz="1400" u="none" cap="none" strike="noStrike">
              <a:solidFill>
                <a:schemeClr val="dk1"/>
              </a:solidFill>
              <a:latin typeface="Arial"/>
              <a:ea typeface="Arial"/>
              <a:cs typeface="Arial"/>
              <a:sym typeface="Arial"/>
            </a:endParaRPr>
          </a:p>
        </p:txBody>
      </p:sp>
      <p:sp>
        <p:nvSpPr>
          <p:cNvPr id="176" name="Google Shape;176;p12"/>
          <p:cNvSpPr/>
          <p:nvPr/>
        </p:nvSpPr>
        <p:spPr>
          <a:xfrm>
            <a:off x="8092440" y="1691640"/>
            <a:ext cx="3429000" cy="1828800"/>
          </a:xfrm>
          <a:prstGeom prst="roundRect">
            <a:avLst>
              <a:gd fmla="val 125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
          <p:cNvSpPr txBox="1"/>
          <p:nvPr/>
        </p:nvSpPr>
        <p:spPr>
          <a:xfrm>
            <a:off x="836676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1200"/>
              <a:buFont typeface="Arial"/>
              <a:buNone/>
            </a:pPr>
            <a:r>
              <a:rPr b="1" i="0" lang="en-US" spc="100" sz="1200" u="none" cap="none" strike="noStrike">
                <a:solidFill>
                  <a:srgbClr val="059669"/>
                </a:solidFill>
                <a:latin typeface="Arial"/>
                <a:ea typeface="Arial"/>
                <a:cs typeface="Arial"/>
                <a:sym typeface="Arial"/>
              </a:rPr>
              <a:t>Stage 3</a:t>
            </a:r>
            <a:endParaRPr b="0" i="0" sz="1200" u="none" cap="none" strike="noStrike">
              <a:solidFill>
                <a:schemeClr val="dk1"/>
              </a:solidFill>
              <a:latin typeface="Arial"/>
              <a:ea typeface="Arial"/>
              <a:cs typeface="Arial"/>
              <a:sym typeface="Arial"/>
            </a:endParaRPr>
          </a:p>
        </p:txBody>
      </p:sp>
      <p:sp>
        <p:nvSpPr>
          <p:cNvPr id="178" name="Google Shape;178;p12"/>
          <p:cNvSpPr txBox="1"/>
          <p:nvPr/>
        </p:nvSpPr>
        <p:spPr>
          <a:xfrm>
            <a:off x="836676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Access ecosystem</a:t>
            </a:r>
            <a:endParaRPr b="0" i="0" sz="2000" u="none" cap="none" strike="noStrike">
              <a:solidFill>
                <a:schemeClr val="dk1"/>
              </a:solidFill>
              <a:latin typeface="Arial"/>
              <a:ea typeface="Arial"/>
              <a:cs typeface="Arial"/>
              <a:sym typeface="Arial"/>
            </a:endParaRPr>
          </a:p>
        </p:txBody>
      </p:sp>
      <p:sp>
        <p:nvSpPr>
          <p:cNvPr id="179" name="Google Shape;179;p12"/>
          <p:cNvSpPr txBox="1"/>
          <p:nvPr/>
        </p:nvSpPr>
        <p:spPr>
          <a:xfrm>
            <a:off x="836676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Hospitals, HMOs, employers and NGOs on one trusted platform</a:t>
            </a:r>
            <a:endParaRPr b="0" i="0" sz="1400" u="none" cap="none" strike="noStrike">
              <a:solidFill>
                <a:schemeClr val="dk1"/>
              </a:solidFill>
              <a:latin typeface="Arial"/>
              <a:ea typeface="Arial"/>
              <a:cs typeface="Arial"/>
              <a:sym typeface="Arial"/>
            </a:endParaRPr>
          </a:p>
        </p:txBody>
      </p:sp>
      <p:sp>
        <p:nvSpPr>
          <p:cNvPr id="180" name="Google Shape;180;p12"/>
          <p:cNvSpPr txBox="1"/>
          <p:nvPr/>
        </p:nvSpPr>
        <p:spPr>
          <a:xfrm>
            <a:off x="640080" y="3931920"/>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What the pilot proves</a:t>
            </a:r>
            <a:endParaRPr b="0" i="0" sz="2000" u="none" cap="none" strike="noStrike">
              <a:solidFill>
                <a:schemeClr val="dk1"/>
              </a:solidFill>
              <a:latin typeface="Arial"/>
              <a:ea typeface="Arial"/>
              <a:cs typeface="Arial"/>
              <a:sym typeface="Arial"/>
            </a:endParaRPr>
          </a:p>
        </p:txBody>
      </p:sp>
      <p:sp>
        <p:nvSpPr>
          <p:cNvPr id="181" name="Google Shape;181;p12"/>
          <p:cNvSpPr txBox="1"/>
          <p:nvPr/>
        </p:nvSpPr>
        <p:spPr>
          <a:xfrm>
            <a:off x="640080" y="4434840"/>
            <a:ext cx="521208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Adoption and repeat use</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Voice usability in each language</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Triage and routing quality</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Hospital partnerships and trust</a:t>
            </a:r>
            <a:endParaRPr b="0" i="0" sz="1600" u="none" cap="none" strike="noStrike">
              <a:solidFill>
                <a:schemeClr val="dk1"/>
              </a:solidFill>
              <a:latin typeface="Arial"/>
              <a:ea typeface="Arial"/>
              <a:cs typeface="Arial"/>
              <a:sym typeface="Arial"/>
            </a:endParaRPr>
          </a:p>
        </p:txBody>
      </p:sp>
      <p:sp>
        <p:nvSpPr>
          <p:cNvPr id="182" name="Google Shape;182;p12"/>
          <p:cNvSpPr txBox="1"/>
          <p:nvPr/>
        </p:nvSpPr>
        <p:spPr>
          <a:xfrm>
            <a:off x="6309360" y="3931920"/>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How people find us</a:t>
            </a:r>
            <a:endParaRPr b="0" i="0" sz="2000" u="none" cap="none" strike="noStrike">
              <a:solidFill>
                <a:schemeClr val="dk1"/>
              </a:solidFill>
              <a:latin typeface="Arial"/>
              <a:ea typeface="Arial"/>
              <a:cs typeface="Arial"/>
              <a:sym typeface="Arial"/>
            </a:endParaRPr>
          </a:p>
        </p:txBody>
      </p:sp>
      <p:sp>
        <p:nvSpPr>
          <p:cNvPr id="183" name="Google Shape;183;p12"/>
          <p:cNvSpPr txBox="1"/>
          <p:nvPr/>
        </p:nvSpPr>
        <p:spPr>
          <a:xfrm>
            <a:off x="6309360" y="4434840"/>
            <a:ext cx="521208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QR codes and posters in partner hospitals</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Schools and universities</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Churches, mosques and youth groups</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NGOs and community health workers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type="title"/>
          </p:nvPr>
        </p:nvSpPr>
        <p:spPr>
          <a:xfrm>
            <a:off x="731520" y="822960"/>
            <a:ext cx="7498080" cy="21031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4000"/>
              <a:buFont typeface="Arial"/>
              <a:buNone/>
            </a:pPr>
            <a:r>
              <a:rPr b="1" lang="en-US" sz="4000">
                <a:solidFill>
                  <a:srgbClr val="FFFFFF"/>
                </a:solidFill>
                <a:latin typeface="Arial"/>
                <a:ea typeface="Arial"/>
                <a:cs typeface="Arial"/>
                <a:sym typeface="Arial"/>
              </a:rPr>
              <a:t>From “something is wrong” to “I know what to do next”</a:t>
            </a:r>
            <a:endParaRPr sz="4000"/>
          </a:p>
        </p:txBody>
      </p:sp>
      <p:sp>
        <p:nvSpPr>
          <p:cNvPr id="190" name="Google Shape;190;p13"/>
          <p:cNvSpPr txBox="1"/>
          <p:nvPr/>
        </p:nvSpPr>
        <p:spPr>
          <a:xfrm>
            <a:off x="731520" y="3200400"/>
            <a:ext cx="24688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0B981"/>
              </a:buClr>
              <a:buSzPts val="1800"/>
              <a:buFont typeface="Arial"/>
              <a:buNone/>
            </a:pPr>
            <a:r>
              <a:rPr b="1" i="0" lang="en-US" sz="1800" u="none" cap="none" strike="noStrike">
                <a:solidFill>
                  <a:srgbClr val="10B981"/>
                </a:solidFill>
                <a:latin typeface="Arial"/>
                <a:ea typeface="Arial"/>
                <a:cs typeface="Arial"/>
                <a:sym typeface="Arial"/>
              </a:rPr>
              <a:t>5 languages</a:t>
            </a:r>
            <a:endParaRPr b="0" i="0" sz="1800" u="none" cap="none" strike="noStrike">
              <a:solidFill>
                <a:schemeClr val="dk1"/>
              </a:solidFill>
              <a:latin typeface="Arial"/>
              <a:ea typeface="Arial"/>
              <a:cs typeface="Arial"/>
              <a:sym typeface="Arial"/>
            </a:endParaRPr>
          </a:p>
        </p:txBody>
      </p:sp>
      <p:sp>
        <p:nvSpPr>
          <p:cNvPr id="191" name="Google Shape;191;p13"/>
          <p:cNvSpPr txBox="1"/>
          <p:nvPr/>
        </p:nvSpPr>
        <p:spPr>
          <a:xfrm>
            <a:off x="3246120" y="3200400"/>
            <a:ext cx="47548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English, Pidgin, Yoruba, Hausa, Igbo</a:t>
            </a:r>
            <a:endParaRPr b="0" i="0" sz="1400" u="none" cap="none" strike="noStrike">
              <a:solidFill>
                <a:schemeClr val="dk1"/>
              </a:solidFill>
              <a:latin typeface="Arial"/>
              <a:ea typeface="Arial"/>
              <a:cs typeface="Arial"/>
              <a:sym typeface="Arial"/>
            </a:endParaRPr>
          </a:p>
        </p:txBody>
      </p:sp>
      <p:sp>
        <p:nvSpPr>
          <p:cNvPr id="192" name="Google Shape;192;p13"/>
          <p:cNvSpPr txBox="1"/>
          <p:nvPr/>
        </p:nvSpPr>
        <p:spPr>
          <a:xfrm>
            <a:off x="731520" y="3913632"/>
            <a:ext cx="24688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0B981"/>
              </a:buClr>
              <a:buSzPts val="1800"/>
              <a:buFont typeface="Arial"/>
              <a:buNone/>
            </a:pPr>
            <a:r>
              <a:rPr b="1" i="0" lang="en-US" sz="1800" u="none" cap="none" strike="noStrike">
                <a:solidFill>
                  <a:srgbClr val="10B981"/>
                </a:solidFill>
                <a:latin typeface="Arial"/>
                <a:ea typeface="Arial"/>
                <a:cs typeface="Arial"/>
                <a:sym typeface="Arial"/>
              </a:rPr>
              <a:t>Voice-first</a:t>
            </a:r>
            <a:endParaRPr b="0" i="0" sz="1800" u="none" cap="none" strike="noStrike">
              <a:solidFill>
                <a:schemeClr val="dk1"/>
              </a:solidFill>
              <a:latin typeface="Arial"/>
              <a:ea typeface="Arial"/>
              <a:cs typeface="Arial"/>
              <a:sym typeface="Arial"/>
            </a:endParaRPr>
          </a:p>
        </p:txBody>
      </p:sp>
      <p:sp>
        <p:nvSpPr>
          <p:cNvPr id="193" name="Google Shape;193;p13"/>
          <p:cNvSpPr txBox="1"/>
          <p:nvPr/>
        </p:nvSpPr>
        <p:spPr>
          <a:xfrm>
            <a:off x="3246120" y="3913632"/>
            <a:ext cx="47548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Speak or type, in your language</a:t>
            </a:r>
            <a:endParaRPr b="0" i="0" sz="1400" u="none" cap="none" strike="noStrike">
              <a:solidFill>
                <a:schemeClr val="dk1"/>
              </a:solidFill>
              <a:latin typeface="Arial"/>
              <a:ea typeface="Arial"/>
              <a:cs typeface="Arial"/>
              <a:sym typeface="Arial"/>
            </a:endParaRPr>
          </a:p>
        </p:txBody>
      </p:sp>
      <p:sp>
        <p:nvSpPr>
          <p:cNvPr id="194" name="Google Shape;194;p13"/>
          <p:cNvSpPr txBox="1"/>
          <p:nvPr/>
        </p:nvSpPr>
        <p:spPr>
          <a:xfrm>
            <a:off x="731520" y="4626864"/>
            <a:ext cx="24688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0B981"/>
              </a:buClr>
              <a:buSzPts val="1800"/>
              <a:buFont typeface="Arial"/>
              <a:buNone/>
            </a:pPr>
            <a:r>
              <a:rPr b="1" i="0" lang="en-US" sz="1800" u="none" cap="none" strike="noStrike">
                <a:solidFill>
                  <a:srgbClr val="10B981"/>
                </a:solidFill>
                <a:latin typeface="Arial"/>
                <a:ea typeface="Arial"/>
                <a:cs typeface="Arial"/>
                <a:sym typeface="Arial"/>
              </a:rPr>
              <a:t>Emergency-ready</a:t>
            </a:r>
            <a:endParaRPr b="0" i="0" sz="1800" u="none" cap="none" strike="noStrike">
              <a:solidFill>
                <a:schemeClr val="dk1"/>
              </a:solidFill>
              <a:latin typeface="Arial"/>
              <a:ea typeface="Arial"/>
              <a:cs typeface="Arial"/>
              <a:sym typeface="Arial"/>
            </a:endParaRPr>
          </a:p>
        </p:txBody>
      </p:sp>
      <p:sp>
        <p:nvSpPr>
          <p:cNvPr id="195" name="Google Shape;195;p13"/>
          <p:cNvSpPr txBox="1"/>
          <p:nvPr/>
        </p:nvSpPr>
        <p:spPr>
          <a:xfrm>
            <a:off x="3246120" y="4626864"/>
            <a:ext cx="47548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Guest access with no sign-up, and a nearest-hospital map</a:t>
            </a:r>
            <a:endParaRPr b="0" i="0" sz="1400" u="none" cap="none" strike="noStrike">
              <a:solidFill>
                <a:schemeClr val="dk1"/>
              </a:solidFill>
              <a:latin typeface="Arial"/>
              <a:ea typeface="Arial"/>
              <a:cs typeface="Arial"/>
              <a:sym typeface="Arial"/>
            </a:endParaRPr>
          </a:p>
        </p:txBody>
      </p:sp>
      <p:sp>
        <p:nvSpPr>
          <p:cNvPr id="196" name="Google Shape;196;p13"/>
          <p:cNvSpPr txBox="1"/>
          <p:nvPr/>
        </p:nvSpPr>
        <p:spPr>
          <a:xfrm>
            <a:off x="731520" y="5340096"/>
            <a:ext cx="24688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0B981"/>
              </a:buClr>
              <a:buSzPts val="1800"/>
              <a:buFont typeface="Arial"/>
              <a:buNone/>
            </a:pPr>
            <a:r>
              <a:rPr b="1" i="0" lang="en-US" sz="1800" u="none" cap="none" strike="noStrike">
                <a:solidFill>
                  <a:srgbClr val="10B981"/>
                </a:solidFill>
                <a:latin typeface="Arial"/>
                <a:ea typeface="Arial"/>
                <a:cs typeface="Arial"/>
                <a:sym typeface="Arial"/>
              </a:rPr>
              <a:t>It checks back</a:t>
            </a:r>
            <a:endParaRPr b="0" i="0" sz="1800" u="none" cap="none" strike="noStrike">
              <a:solidFill>
                <a:schemeClr val="dk1"/>
              </a:solidFill>
              <a:latin typeface="Arial"/>
              <a:ea typeface="Arial"/>
              <a:cs typeface="Arial"/>
              <a:sym typeface="Arial"/>
            </a:endParaRPr>
          </a:p>
        </p:txBody>
      </p:sp>
      <p:sp>
        <p:nvSpPr>
          <p:cNvPr id="197" name="Google Shape;197;p13"/>
          <p:cNvSpPr txBox="1"/>
          <p:nvPr/>
        </p:nvSpPr>
        <p:spPr>
          <a:xfrm>
            <a:off x="3246120" y="5340096"/>
            <a:ext cx="47548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Follow-ups and feedback after every assessment</a:t>
            </a:r>
            <a:endParaRPr b="0" i="0" sz="1400" u="none" cap="none" strike="noStrike">
              <a:solidFill>
                <a:schemeClr val="dk1"/>
              </a:solidFill>
              <a:latin typeface="Arial"/>
              <a:ea typeface="Arial"/>
              <a:cs typeface="Arial"/>
              <a:sym typeface="Arial"/>
            </a:endParaRPr>
          </a:p>
        </p:txBody>
      </p:sp>
      <p:sp>
        <p:nvSpPr>
          <p:cNvPr id="198" name="Google Shape;198;p13"/>
          <p:cNvSpPr txBox="1"/>
          <p:nvPr/>
        </p:nvSpPr>
        <p:spPr>
          <a:xfrm>
            <a:off x="731520" y="6126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Next: a Lagos pilot with partner hospitals</a:t>
            </a:r>
            <a:endParaRPr b="0" i="0" sz="1800" u="none" cap="none" strike="noStrike">
              <a:solidFill>
                <a:schemeClr val="dk1"/>
              </a:solidFill>
              <a:latin typeface="Arial"/>
              <a:ea typeface="Arial"/>
              <a:cs typeface="Arial"/>
              <a:sym typeface="Arial"/>
            </a:endParaRPr>
          </a:p>
        </p:txBody>
      </p:sp>
      <p:pic>
        <p:nvPicPr>
          <p:cNvPr descr="Alavia home screen in Nigerian Pidgin" id="199" name="Google Shape;199;p13"/>
          <p:cNvPicPr preferRelativeResize="0"/>
          <p:nvPr/>
        </p:nvPicPr>
        <p:blipFill rotWithShape="1">
          <a:blip r:embed="rId3">
            <a:alphaModFix/>
          </a:blip>
          <a:srcRect b="0" l="0" r="0" t="0"/>
          <a:stretch/>
        </p:blipFill>
        <p:spPr>
          <a:xfrm>
            <a:off x="8869675" y="1097275"/>
            <a:ext cx="2596450" cy="5618550"/>
          </a:xfrm>
          <a:prstGeom prst="rect">
            <a:avLst/>
          </a:prstGeom>
          <a:noFill/>
          <a:ln>
            <a:noFill/>
          </a:ln>
        </p:spPr>
      </p:pic>
      <p:sp>
        <p:nvSpPr>
          <p:cNvPr id="200" name="Google Shape;200;p13"/>
          <p:cNvSpPr txBox="1"/>
          <p:nvPr/>
        </p:nvSpPr>
        <p:spPr>
          <a:xfrm>
            <a:off x="8595360" y="411480"/>
            <a:ext cx="32918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0B981"/>
              </a:buClr>
              <a:buSzPts val="1400"/>
              <a:buFont typeface="Arial"/>
              <a:buNone/>
            </a:pPr>
            <a:r>
              <a:rPr b="1" i="0" lang="en-US" sz="1400" u="none" cap="none" strike="noStrike">
                <a:solidFill>
                  <a:srgbClr val="10B981"/>
                </a:solidFill>
                <a:latin typeface="Arial"/>
                <a:ea typeface="Arial"/>
                <a:cs typeface="Arial"/>
                <a:sym typeface="Arial"/>
              </a:rPr>
              <a:t>alavia-ai.vercel.app</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640080" y="411480"/>
            <a:ext cx="10881360" cy="10515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172A"/>
              </a:buClr>
              <a:buSzPts val="3400"/>
              <a:buFont typeface="Arial"/>
              <a:buNone/>
            </a:pPr>
            <a:r>
              <a:rPr b="1" lang="en-US" sz="3400">
                <a:solidFill>
                  <a:srgbClr val="0F172A"/>
                </a:solidFill>
                <a:latin typeface="Arial"/>
                <a:ea typeface="Arial"/>
                <a:cs typeface="Arial"/>
                <a:sym typeface="Arial"/>
              </a:rPr>
              <a:t>Alavia means health route</a:t>
            </a:r>
            <a:endParaRPr sz="3400"/>
          </a:p>
        </p:txBody>
      </p:sp>
      <p:sp>
        <p:nvSpPr>
          <p:cNvPr id="166" name="Google Shape;166;p12"/>
          <p:cNvSpPr/>
          <p:nvPr/>
        </p:nvSpPr>
        <p:spPr>
          <a:xfrm>
            <a:off x="640080" y="1691640"/>
            <a:ext cx="3429000" cy="1828800"/>
          </a:xfrm>
          <a:prstGeom prst="roundRect">
            <a:avLst>
              <a:gd fmla="val 12500" name="adj"/>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
          <p:cNvSpPr txBox="1"/>
          <p:nvPr/>
        </p:nvSpPr>
        <p:spPr>
          <a:xfrm>
            <a:off x="91440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FAE5"/>
              </a:buClr>
              <a:buSzPts val="1200"/>
              <a:buFont typeface="Arial"/>
              <a:buNone/>
            </a:pPr>
            <a:r>
              <a:rPr b="1" i="0" lang="en-US" spc="100" sz="1200" u="none" cap="none" strike="noStrike">
                <a:solidFill>
                  <a:srgbClr val="D1FAE5"/>
                </a:solidFill>
                <a:latin typeface="Arial"/>
                <a:ea typeface="Arial"/>
                <a:cs typeface="Arial"/>
                <a:sym typeface="Arial"/>
              </a:rPr>
              <a:t>Part 1</a:t>
            </a:r>
            <a:endParaRPr b="0" i="0" sz="1200" u="none" cap="none" strike="noStrike">
              <a:solidFill>
                <a:schemeClr val="dk1"/>
              </a:solidFill>
              <a:latin typeface="Arial"/>
              <a:ea typeface="Arial"/>
              <a:cs typeface="Arial"/>
              <a:sym typeface="Arial"/>
            </a:endParaRPr>
          </a:p>
        </p:txBody>
      </p:sp>
      <p:sp>
        <p:nvSpPr>
          <p:cNvPr id="168" name="Google Shape;168;p12"/>
          <p:cNvSpPr txBox="1"/>
          <p:nvPr/>
        </p:nvSpPr>
        <p:spPr>
          <a:xfrm>
            <a:off x="91440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Ala</a:t>
            </a:r>
            <a:endParaRPr b="0" i="0" sz="2000" u="none" cap="none" strike="noStrike">
              <a:solidFill>
                <a:schemeClr val="dk1"/>
              </a:solidFill>
              <a:latin typeface="Arial"/>
              <a:ea typeface="Arial"/>
              <a:cs typeface="Arial"/>
              <a:sym typeface="Arial"/>
            </a:endParaRPr>
          </a:p>
        </p:txBody>
      </p:sp>
      <p:sp>
        <p:nvSpPr>
          <p:cNvPr id="169" name="Google Shape;169;p12"/>
          <p:cNvSpPr txBox="1"/>
          <p:nvPr/>
        </p:nvSpPr>
        <p:spPr>
          <a:xfrm>
            <a:off x="91440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From Alafia, Yoruba for health, wellbeing and peace</a:t>
            </a:r>
            <a:endParaRPr b="0" i="0" sz="1400" u="none" cap="none" strike="noStrike">
              <a:solidFill>
                <a:schemeClr val="dk1"/>
              </a:solidFill>
              <a:latin typeface="Arial"/>
              <a:ea typeface="Arial"/>
              <a:cs typeface="Arial"/>
              <a:sym typeface="Arial"/>
            </a:endParaRPr>
          </a:p>
        </p:txBody>
      </p:sp>
      <p:sp>
        <p:nvSpPr>
          <p:cNvPr id="170" name="Google Shape;170;p12"/>
          <p:cNvSpPr/>
          <p:nvPr/>
        </p:nvSpPr>
        <p:spPr>
          <a:xfrm>
            <a:off x="2743200" y="1810512"/>
            <a:ext cx="1097280" cy="310896"/>
          </a:xfrm>
          <a:prstGeom prst="roundRect">
            <a:avLst>
              <a:gd fmla="val 50000"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2"/>
          <p:cNvSpPr txBox="1"/>
          <p:nvPr/>
        </p:nvSpPr>
        <p:spPr>
          <a:xfrm>
            <a:off x="2743200" y="1810512"/>
            <a:ext cx="10972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200"/>
              <a:buFont typeface="Arial"/>
              <a:buNone/>
            </a:pPr>
            <a:r>
              <a:rPr b="1" i="0" lang="en-US" sz="1200" u="none" cap="none" strike="noStrike">
                <a:solidFill>
                  <a:srgbClr val="059669"/>
                </a:solidFill>
                <a:latin typeface="Arial"/>
                <a:ea typeface="Arial"/>
                <a:cs typeface="Arial"/>
                <a:sym typeface="Arial"/>
              </a:rPr>
              <a:t>Root</a:t>
            </a:r>
            <a:endParaRPr b="0" i="0" sz="1200" u="none" cap="none" strike="noStrike">
              <a:solidFill>
                <a:schemeClr val="dk1"/>
              </a:solidFill>
              <a:latin typeface="Arial"/>
              <a:ea typeface="Arial"/>
              <a:cs typeface="Arial"/>
              <a:sym typeface="Arial"/>
            </a:endParaRPr>
          </a:p>
        </p:txBody>
      </p:sp>
      <p:sp>
        <p:nvSpPr>
          <p:cNvPr id="172" name="Google Shape;172;p12"/>
          <p:cNvSpPr/>
          <p:nvPr/>
        </p:nvSpPr>
        <p:spPr>
          <a:xfrm>
            <a:off x="4366260" y="1691640"/>
            <a:ext cx="3429000" cy="1828800"/>
          </a:xfrm>
          <a:prstGeom prst="roundRect">
            <a:avLst>
              <a:gd fmla="val 125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2"/>
          <p:cNvSpPr txBox="1"/>
          <p:nvPr/>
        </p:nvSpPr>
        <p:spPr>
          <a:xfrm>
            <a:off x="464058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1200"/>
              <a:buFont typeface="Arial"/>
              <a:buNone/>
            </a:pPr>
            <a:r>
              <a:rPr b="1" i="0" lang="en-US" spc="100" sz="1200" u="none" cap="none" strike="noStrike">
                <a:solidFill>
                  <a:srgbClr val="059669"/>
                </a:solidFill>
                <a:latin typeface="Arial"/>
                <a:ea typeface="Arial"/>
                <a:cs typeface="Arial"/>
                <a:sym typeface="Arial"/>
              </a:rPr>
              <a:t>Part 2</a:t>
            </a:r>
            <a:endParaRPr b="0" i="0" sz="1200" u="none" cap="none" strike="noStrike">
              <a:solidFill>
                <a:schemeClr val="dk1"/>
              </a:solidFill>
              <a:latin typeface="Arial"/>
              <a:ea typeface="Arial"/>
              <a:cs typeface="Arial"/>
              <a:sym typeface="Arial"/>
            </a:endParaRPr>
          </a:p>
        </p:txBody>
      </p:sp>
      <p:sp>
        <p:nvSpPr>
          <p:cNvPr id="174" name="Google Shape;174;p12"/>
          <p:cNvSpPr txBox="1"/>
          <p:nvPr/>
        </p:nvSpPr>
        <p:spPr>
          <a:xfrm>
            <a:off x="464058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Via</a:t>
            </a:r>
            <a:endParaRPr b="0" i="0" sz="2000" u="none" cap="none" strike="noStrike">
              <a:solidFill>
                <a:schemeClr val="dk1"/>
              </a:solidFill>
              <a:latin typeface="Arial"/>
              <a:ea typeface="Arial"/>
              <a:cs typeface="Arial"/>
              <a:sym typeface="Arial"/>
            </a:endParaRPr>
          </a:p>
        </p:txBody>
      </p:sp>
      <p:sp>
        <p:nvSpPr>
          <p:cNvPr id="175" name="Google Shape;175;p12"/>
          <p:cNvSpPr txBox="1"/>
          <p:nvPr/>
        </p:nvSpPr>
        <p:spPr>
          <a:xfrm>
            <a:off x="464058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The route, the way to the right care</a:t>
            </a:r>
            <a:endParaRPr b="0" i="0" sz="1400" u="none" cap="none" strike="noStrike">
              <a:solidFill>
                <a:schemeClr val="dk1"/>
              </a:solidFill>
              <a:latin typeface="Arial"/>
              <a:ea typeface="Arial"/>
              <a:cs typeface="Arial"/>
              <a:sym typeface="Arial"/>
            </a:endParaRPr>
          </a:p>
        </p:txBody>
      </p:sp>
      <p:sp>
        <p:nvSpPr>
          <p:cNvPr id="176" name="Google Shape;176;p12"/>
          <p:cNvSpPr/>
          <p:nvPr/>
        </p:nvSpPr>
        <p:spPr>
          <a:xfrm>
            <a:off x="8092440" y="1691640"/>
            <a:ext cx="3429000" cy="1828800"/>
          </a:xfrm>
          <a:prstGeom prst="roundRect">
            <a:avLst>
              <a:gd fmla="val 125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
          <p:cNvSpPr txBox="1"/>
          <p:nvPr/>
        </p:nvSpPr>
        <p:spPr>
          <a:xfrm>
            <a:off x="836676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1200"/>
              <a:buFont typeface="Arial"/>
              <a:buNone/>
            </a:pPr>
            <a:r>
              <a:rPr b="1" i="0" lang="en-US" spc="100" sz="1200" u="none" cap="none" strike="noStrike">
                <a:solidFill>
                  <a:srgbClr val="059669"/>
                </a:solidFill>
                <a:latin typeface="Arial"/>
                <a:ea typeface="Arial"/>
                <a:cs typeface="Arial"/>
                <a:sym typeface="Arial"/>
              </a:rPr>
              <a:t>Together</a:t>
            </a:r>
            <a:endParaRPr b="0" i="0" sz="1200" u="none" cap="none" strike="noStrike">
              <a:solidFill>
                <a:schemeClr val="dk1"/>
              </a:solidFill>
              <a:latin typeface="Arial"/>
              <a:ea typeface="Arial"/>
              <a:cs typeface="Arial"/>
              <a:sym typeface="Arial"/>
            </a:endParaRPr>
          </a:p>
        </p:txBody>
      </p:sp>
      <p:sp>
        <p:nvSpPr>
          <p:cNvPr id="178" name="Google Shape;178;p12"/>
          <p:cNvSpPr txBox="1"/>
          <p:nvPr/>
        </p:nvSpPr>
        <p:spPr>
          <a:xfrm>
            <a:off x="836676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Alavia</a:t>
            </a:r>
            <a:endParaRPr b="0" i="0" sz="2000" u="none" cap="none" strike="noStrike">
              <a:solidFill>
                <a:schemeClr val="dk1"/>
              </a:solidFill>
              <a:latin typeface="Arial"/>
              <a:ea typeface="Arial"/>
              <a:cs typeface="Arial"/>
              <a:sym typeface="Arial"/>
            </a:endParaRPr>
          </a:p>
        </p:txBody>
      </p:sp>
      <p:sp>
        <p:nvSpPr>
          <p:cNvPr id="179" name="Google Shape;179;p12"/>
          <p:cNvSpPr txBox="1"/>
          <p:nvPr/>
        </p:nvSpPr>
        <p:spPr>
          <a:xfrm>
            <a:off x="836676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A health route, from symptoms to the right care</a:t>
            </a:r>
            <a:endParaRPr b="0" i="0" sz="1400" u="none" cap="none" strike="noStrike">
              <a:solidFill>
                <a:schemeClr val="dk1"/>
              </a:solidFill>
              <a:latin typeface="Arial"/>
              <a:ea typeface="Arial"/>
              <a:cs typeface="Arial"/>
              <a:sym typeface="Arial"/>
            </a:endParaRPr>
          </a:p>
        </p:txBody>
      </p:sp>
      <p:sp>
        <p:nvSpPr>
          <p:cNvPr id="180" name="Google Shape;180;p12"/>
          <p:cNvSpPr txBox="1"/>
          <p:nvPr/>
        </p:nvSpPr>
        <p:spPr>
          <a:xfrm>
            <a:off x="640080" y="3931920"/>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What the name stands for</a:t>
            </a:r>
            <a:endParaRPr b="0" i="0" sz="2000" u="none" cap="none" strike="noStrike">
              <a:solidFill>
                <a:schemeClr val="dk1"/>
              </a:solidFill>
              <a:latin typeface="Arial"/>
              <a:ea typeface="Arial"/>
              <a:cs typeface="Arial"/>
              <a:sym typeface="Arial"/>
            </a:endParaRPr>
          </a:p>
        </p:txBody>
      </p:sp>
      <p:sp>
        <p:nvSpPr>
          <p:cNvPr id="181" name="Google Shape;181;p12"/>
          <p:cNvSpPr txBox="1"/>
          <p:nvPr/>
        </p:nvSpPr>
        <p:spPr>
          <a:xfrm>
            <a:off x="640080" y="4434840"/>
            <a:ext cx="521208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Alafia: wellbeing and peace of mind</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Via: the way to the right care</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A route from symptoms to action</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Said and heard in five Nigerian languages</a:t>
            </a:r>
            <a:endParaRPr b="0" i="0" sz="1600" u="none" cap="none" strike="noStrike">
              <a:solidFill>
                <a:schemeClr val="dk1"/>
              </a:solidFill>
              <a:latin typeface="Arial"/>
              <a:ea typeface="Arial"/>
              <a:cs typeface="Arial"/>
              <a:sym typeface="Arial"/>
            </a:endParaRPr>
          </a:p>
        </p:txBody>
      </p:sp>
      <p:sp>
        <p:nvSpPr>
          <p:cNvPr id="182" name="Google Shape;182;p12"/>
          <p:cNvSpPr txBox="1"/>
          <p:nvPr/>
        </p:nvSpPr>
        <p:spPr>
          <a:xfrm>
            <a:off x="6309360" y="3931920"/>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How it shows up</a:t>
            </a:r>
            <a:endParaRPr b="0" i="0" sz="2000" u="none" cap="none" strike="noStrike">
              <a:solidFill>
                <a:schemeClr val="dk1"/>
              </a:solidFill>
              <a:latin typeface="Arial"/>
              <a:ea typeface="Arial"/>
              <a:cs typeface="Arial"/>
              <a:sym typeface="Arial"/>
            </a:endParaRPr>
          </a:p>
        </p:txBody>
      </p:sp>
      <p:sp>
        <p:nvSpPr>
          <p:cNvPr id="183" name="Google Shape;183;p12"/>
          <p:cNvSpPr txBox="1"/>
          <p:nvPr/>
        </p:nvSpPr>
        <p:spPr>
          <a:xfrm>
            <a:off x="6309360" y="4434840"/>
            <a:ext cx="521208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Voice-first, in your language</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First-aid steps for the moment</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Hospitals ranked for your case</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A follow-up after every check</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640080" y="411480"/>
            <a:ext cx="10881360" cy="10515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172A"/>
              </a:buClr>
              <a:buSzPts val="3400"/>
              <a:buFont typeface="Arial"/>
              <a:buNone/>
            </a:pPr>
            <a:r>
              <a:rPr b="1" lang="en-US" sz="3400">
                <a:solidFill>
                  <a:srgbClr val="0F172A"/>
                </a:solidFill>
                <a:latin typeface="Arial"/>
                <a:ea typeface="Arial"/>
                <a:cs typeface="Arial"/>
                <a:sym typeface="Arial"/>
              </a:rPr>
              <a:t>What’s new in the app</a:t>
            </a:r>
            <a:endParaRPr sz="3400"/>
          </a:p>
        </p:txBody>
      </p:sp>
      <p:sp>
        <p:nvSpPr>
          <p:cNvPr id="166" name="Google Shape;166;p12"/>
          <p:cNvSpPr/>
          <p:nvPr/>
        </p:nvSpPr>
        <p:spPr>
          <a:xfrm>
            <a:off x="640080" y="1691640"/>
            <a:ext cx="3429000" cy="1828800"/>
          </a:xfrm>
          <a:prstGeom prst="roundRect">
            <a:avLst>
              <a:gd fmla="val 12500" name="adj"/>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
          <p:cNvSpPr txBox="1"/>
          <p:nvPr/>
        </p:nvSpPr>
        <p:spPr>
          <a:xfrm>
            <a:off x="91440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FAE5"/>
              </a:buClr>
              <a:buSzPts val="1200"/>
              <a:buFont typeface="Arial"/>
              <a:buNone/>
            </a:pPr>
            <a:r>
              <a:rPr b="1" i="0" lang="en-US" spc="100" sz="1200" u="none" cap="none" strike="noStrike">
                <a:solidFill>
                  <a:srgbClr val="D1FAE5"/>
                </a:solidFill>
                <a:latin typeface="Arial"/>
                <a:ea typeface="Arial"/>
                <a:cs typeface="Arial"/>
                <a:sym typeface="Arial"/>
              </a:rPr>
              <a:t>Result screen</a:t>
            </a:r>
            <a:endParaRPr b="0" i="0" sz="1200" u="none" cap="none" strike="noStrike">
              <a:solidFill>
                <a:schemeClr val="dk1"/>
              </a:solidFill>
              <a:latin typeface="Arial"/>
              <a:ea typeface="Arial"/>
              <a:cs typeface="Arial"/>
              <a:sym typeface="Arial"/>
            </a:endParaRPr>
          </a:p>
        </p:txBody>
      </p:sp>
      <p:sp>
        <p:nvSpPr>
          <p:cNvPr id="168" name="Google Shape;168;p12"/>
          <p:cNvSpPr txBox="1"/>
          <p:nvPr/>
        </p:nvSpPr>
        <p:spPr>
          <a:xfrm>
            <a:off x="91440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First aid first</a:t>
            </a:r>
            <a:endParaRPr b="0" i="0" sz="2000" u="none" cap="none" strike="noStrike">
              <a:solidFill>
                <a:schemeClr val="dk1"/>
              </a:solidFill>
              <a:latin typeface="Arial"/>
              <a:ea typeface="Arial"/>
              <a:cs typeface="Arial"/>
              <a:sym typeface="Arial"/>
            </a:endParaRPr>
          </a:p>
        </p:txBody>
      </p:sp>
      <p:sp>
        <p:nvSpPr>
          <p:cNvPr id="169" name="Google Shape;169;p12"/>
          <p:cNvSpPr txBox="1"/>
          <p:nvPr/>
        </p:nvSpPr>
        <p:spPr>
          <a:xfrm>
            <a:off x="91440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What to do comes before hospitals, for every severity</a:t>
            </a:r>
            <a:endParaRPr b="0" i="0" sz="1400" u="none" cap="none" strike="noStrike">
              <a:solidFill>
                <a:schemeClr val="dk1"/>
              </a:solidFill>
              <a:latin typeface="Arial"/>
              <a:ea typeface="Arial"/>
              <a:cs typeface="Arial"/>
              <a:sym typeface="Arial"/>
            </a:endParaRPr>
          </a:p>
        </p:txBody>
      </p:sp>
      <p:sp>
        <p:nvSpPr>
          <p:cNvPr id="170" name="Google Shape;170;p12"/>
          <p:cNvSpPr/>
          <p:nvPr/>
        </p:nvSpPr>
        <p:spPr>
          <a:xfrm>
            <a:off x="2743200" y="1810512"/>
            <a:ext cx="1097280" cy="310896"/>
          </a:xfrm>
          <a:prstGeom prst="roundRect">
            <a:avLst>
              <a:gd fmla="val 50000"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2"/>
          <p:cNvSpPr txBox="1"/>
          <p:nvPr/>
        </p:nvSpPr>
        <p:spPr>
          <a:xfrm>
            <a:off x="2743200" y="1810512"/>
            <a:ext cx="10972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200"/>
              <a:buFont typeface="Arial"/>
              <a:buNone/>
            </a:pPr>
            <a:r>
              <a:rPr b="1" i="0" lang="en-US" sz="1200" u="none" cap="none" strike="noStrike">
                <a:solidFill>
                  <a:srgbClr val="059669"/>
                </a:solidFill>
                <a:latin typeface="Arial"/>
                <a:ea typeface="Arial"/>
                <a:cs typeface="Arial"/>
                <a:sym typeface="Arial"/>
              </a:rPr>
              <a:t>Shipped</a:t>
            </a:r>
            <a:endParaRPr b="0" i="0" sz="1200" u="none" cap="none" strike="noStrike">
              <a:solidFill>
                <a:schemeClr val="dk1"/>
              </a:solidFill>
              <a:latin typeface="Arial"/>
              <a:ea typeface="Arial"/>
              <a:cs typeface="Arial"/>
              <a:sym typeface="Arial"/>
            </a:endParaRPr>
          </a:p>
        </p:txBody>
      </p:sp>
      <p:sp>
        <p:nvSpPr>
          <p:cNvPr id="172" name="Google Shape;172;p12"/>
          <p:cNvSpPr/>
          <p:nvPr/>
        </p:nvSpPr>
        <p:spPr>
          <a:xfrm>
            <a:off x="4366260" y="1691640"/>
            <a:ext cx="3429000" cy="1828800"/>
          </a:xfrm>
          <a:prstGeom prst="roundRect">
            <a:avLst>
              <a:gd fmla="val 125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2"/>
          <p:cNvSpPr txBox="1"/>
          <p:nvPr/>
        </p:nvSpPr>
        <p:spPr>
          <a:xfrm>
            <a:off x="464058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1200"/>
              <a:buFont typeface="Arial"/>
              <a:buNone/>
            </a:pPr>
            <a:r>
              <a:rPr b="1" i="0" lang="en-US" spc="100" sz="1200" u="none" cap="none" strike="noStrike">
                <a:solidFill>
                  <a:srgbClr val="059669"/>
                </a:solidFill>
                <a:latin typeface="Arial"/>
                <a:ea typeface="Arial"/>
                <a:cs typeface="Arial"/>
                <a:sym typeface="Arial"/>
              </a:rPr>
              <a:t>Voice</a:t>
            </a:r>
            <a:endParaRPr b="0" i="0" sz="1200" u="none" cap="none" strike="noStrike">
              <a:solidFill>
                <a:schemeClr val="dk1"/>
              </a:solidFill>
              <a:latin typeface="Arial"/>
              <a:ea typeface="Arial"/>
              <a:cs typeface="Arial"/>
              <a:sym typeface="Arial"/>
            </a:endParaRPr>
          </a:p>
        </p:txBody>
      </p:sp>
      <p:sp>
        <p:nvSpPr>
          <p:cNvPr id="174" name="Google Shape;174;p12"/>
          <p:cNvSpPr txBox="1"/>
          <p:nvPr/>
        </p:nvSpPr>
        <p:spPr>
          <a:xfrm>
            <a:off x="464058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One voice, faster</a:t>
            </a:r>
            <a:endParaRPr b="0" i="0" sz="2000" u="none" cap="none" strike="noStrike">
              <a:solidFill>
                <a:schemeClr val="dk1"/>
              </a:solidFill>
              <a:latin typeface="Arial"/>
              <a:ea typeface="Arial"/>
              <a:cs typeface="Arial"/>
              <a:sym typeface="Arial"/>
            </a:endParaRPr>
          </a:p>
        </p:txBody>
      </p:sp>
      <p:sp>
        <p:nvSpPr>
          <p:cNvPr id="175" name="Google Shape;175;p12"/>
          <p:cNvSpPr txBox="1"/>
          <p:nvPr/>
        </p:nvSpPr>
        <p:spPr>
          <a:xfrm>
            <a:off x="464058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First sentence plays as soon as it is ready</a:t>
            </a:r>
            <a:endParaRPr b="0" i="0" sz="1400" u="none" cap="none" strike="noStrike">
              <a:solidFill>
                <a:schemeClr val="dk1"/>
              </a:solidFill>
              <a:latin typeface="Arial"/>
              <a:ea typeface="Arial"/>
              <a:cs typeface="Arial"/>
              <a:sym typeface="Arial"/>
            </a:endParaRPr>
          </a:p>
        </p:txBody>
      </p:sp>
      <p:sp>
        <p:nvSpPr>
          <p:cNvPr id="176" name="Google Shape;176;p12"/>
          <p:cNvSpPr/>
          <p:nvPr/>
        </p:nvSpPr>
        <p:spPr>
          <a:xfrm>
            <a:off x="8092440" y="1691640"/>
            <a:ext cx="3429000" cy="1828800"/>
          </a:xfrm>
          <a:prstGeom prst="roundRect">
            <a:avLst>
              <a:gd fmla="val 125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
          <p:cNvSpPr txBox="1"/>
          <p:nvPr/>
        </p:nvSpPr>
        <p:spPr>
          <a:xfrm>
            <a:off x="836676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1200"/>
              <a:buFont typeface="Arial"/>
              <a:buNone/>
            </a:pPr>
            <a:r>
              <a:rPr b="1" i="0" lang="en-US" spc="100" sz="1200" u="none" cap="none" strike="noStrike">
                <a:solidFill>
                  <a:srgbClr val="059669"/>
                </a:solidFill>
                <a:latin typeface="Arial"/>
                <a:ea typeface="Arial"/>
                <a:cs typeface="Arial"/>
                <a:sym typeface="Arial"/>
              </a:rPr>
              <a:t>Input</a:t>
            </a:r>
            <a:endParaRPr b="0" i="0" sz="1200" u="none" cap="none" strike="noStrike">
              <a:solidFill>
                <a:schemeClr val="dk1"/>
              </a:solidFill>
              <a:latin typeface="Arial"/>
              <a:ea typeface="Arial"/>
              <a:cs typeface="Arial"/>
              <a:sym typeface="Arial"/>
            </a:endParaRPr>
          </a:p>
        </p:txBody>
      </p:sp>
      <p:sp>
        <p:nvSpPr>
          <p:cNvPr id="178" name="Google Shape;178;p12"/>
          <p:cNvSpPr txBox="1"/>
          <p:nvPr/>
        </p:nvSpPr>
        <p:spPr>
          <a:xfrm>
            <a:off x="836676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A bigger mic</a:t>
            </a:r>
            <a:endParaRPr b="0" i="0" sz="2000" u="none" cap="none" strike="noStrike">
              <a:solidFill>
                <a:schemeClr val="dk1"/>
              </a:solidFill>
              <a:latin typeface="Arial"/>
              <a:ea typeface="Arial"/>
              <a:cs typeface="Arial"/>
              <a:sym typeface="Arial"/>
            </a:endParaRPr>
          </a:p>
        </p:txBody>
      </p:sp>
      <p:sp>
        <p:nvSpPr>
          <p:cNvPr id="179" name="Google Shape;179;p12"/>
          <p:cNvSpPr txBox="1"/>
          <p:nvPr/>
        </p:nvSpPr>
        <p:spPr>
          <a:xfrm>
            <a:off x="836676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Tap or Hold, with the mode always visible</a:t>
            </a:r>
            <a:endParaRPr b="0" i="0" sz="1400" u="none" cap="none" strike="noStrike">
              <a:solidFill>
                <a:schemeClr val="dk1"/>
              </a:solidFill>
              <a:latin typeface="Arial"/>
              <a:ea typeface="Arial"/>
              <a:cs typeface="Arial"/>
              <a:sym typeface="Arial"/>
            </a:endParaRPr>
          </a:p>
        </p:txBody>
      </p:sp>
      <p:sp>
        <p:nvSpPr>
          <p:cNvPr id="180" name="Google Shape;180;p12"/>
          <p:cNvSpPr txBox="1"/>
          <p:nvPr/>
        </p:nvSpPr>
        <p:spPr>
          <a:xfrm>
            <a:off x="640080" y="3931920"/>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On the result screen</a:t>
            </a:r>
            <a:endParaRPr b="0" i="0" sz="2000" u="none" cap="none" strike="noStrike">
              <a:solidFill>
                <a:schemeClr val="dk1"/>
              </a:solidFill>
              <a:latin typeface="Arial"/>
              <a:ea typeface="Arial"/>
              <a:cs typeface="Arial"/>
              <a:sym typeface="Arial"/>
            </a:endParaRPr>
          </a:p>
        </p:txBody>
      </p:sp>
      <p:sp>
        <p:nvSpPr>
          <p:cNvPr id="181" name="Google Shape;181;p12"/>
          <p:cNvSpPr txBox="1"/>
          <p:nvPr/>
        </p:nvSpPr>
        <p:spPr>
          <a:xfrm>
            <a:off x="640080" y="4434840"/>
            <a:ext cx="521208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First-aid steps first, hospitals second</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No reply bar once the check is done</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Hospitals ranked by distance and capability</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Feedback and follow-up check-in</a:t>
            </a:r>
            <a:endParaRPr b="0" i="0" sz="1600" u="none" cap="none" strike="noStrike">
              <a:solidFill>
                <a:schemeClr val="dk1"/>
              </a:solidFill>
              <a:latin typeface="Arial"/>
              <a:ea typeface="Arial"/>
              <a:cs typeface="Arial"/>
              <a:sym typeface="Arial"/>
            </a:endParaRPr>
          </a:p>
        </p:txBody>
      </p:sp>
      <p:sp>
        <p:nvSpPr>
          <p:cNvPr id="182" name="Google Shape;182;p12"/>
          <p:cNvSpPr txBox="1"/>
          <p:nvPr/>
        </p:nvSpPr>
        <p:spPr>
          <a:xfrm>
            <a:off x="6309360" y="3931920"/>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Across the app</a:t>
            </a:r>
            <a:endParaRPr b="0" i="0" sz="2000" u="none" cap="none" strike="noStrike">
              <a:solidFill>
                <a:schemeClr val="dk1"/>
              </a:solidFill>
              <a:latin typeface="Arial"/>
              <a:ea typeface="Arial"/>
              <a:cs typeface="Arial"/>
              <a:sym typeface="Arial"/>
            </a:endParaRPr>
          </a:p>
        </p:txBody>
      </p:sp>
      <p:sp>
        <p:nvSpPr>
          <p:cNvPr id="183" name="Google Shape;183;p12"/>
          <p:cNvSpPr txBox="1"/>
          <p:nvPr/>
        </p:nvSpPr>
        <p:spPr>
          <a:xfrm>
            <a:off x="6309360" y="4434840"/>
            <a:ext cx="521208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English, Pidgin, Yoruba, Hausa and Igbo</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Only one voice speaks at a time</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Voice speed 1.1x by default</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Old audio never plays over the next question</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2"/>
          <p:cNvSpPr txBox="1"/>
          <p:nvPr>
            <p:ph type="title"/>
          </p:nvPr>
        </p:nvSpPr>
        <p:spPr>
          <a:xfrm>
            <a:off x="640080" y="411480"/>
            <a:ext cx="10881360" cy="10515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F172A"/>
              </a:buClr>
              <a:buSzPts val="3400"/>
              <a:buFont typeface="Arial"/>
              <a:buNone/>
            </a:pPr>
            <a:r>
              <a:rPr b="1" lang="en-US" sz="3400">
                <a:solidFill>
                  <a:srgbClr val="0F172A"/>
                </a:solidFill>
                <a:latin typeface="Arial"/>
                <a:ea typeface="Arial"/>
                <a:cs typeface="Arial"/>
                <a:sym typeface="Arial"/>
              </a:rPr>
              <a:t>Planned: our own voice, working offline</a:t>
            </a:r>
            <a:endParaRPr sz="3400"/>
          </a:p>
        </p:txBody>
      </p:sp>
      <p:sp>
        <p:nvSpPr>
          <p:cNvPr id="166" name="Google Shape;166;p12"/>
          <p:cNvSpPr/>
          <p:nvPr/>
        </p:nvSpPr>
        <p:spPr>
          <a:xfrm>
            <a:off x="640080" y="1691640"/>
            <a:ext cx="3429000" cy="1828800"/>
          </a:xfrm>
          <a:prstGeom prst="roundRect">
            <a:avLst>
              <a:gd fmla="val 12500" name="adj"/>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
          <p:cNvSpPr txBox="1"/>
          <p:nvPr/>
        </p:nvSpPr>
        <p:spPr>
          <a:xfrm>
            <a:off x="91440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FAE5"/>
              </a:buClr>
              <a:buSzPts val="1200"/>
              <a:buFont typeface="Arial"/>
              <a:buNone/>
            </a:pPr>
            <a:r>
              <a:rPr b="1" i="0" lang="en-US" spc="100" sz="1200" u="none" cap="none" strike="noStrike">
                <a:solidFill>
                  <a:srgbClr val="D1FAE5"/>
                </a:solidFill>
                <a:latin typeface="Arial"/>
                <a:ea typeface="Arial"/>
                <a:cs typeface="Arial"/>
                <a:sym typeface="Arial"/>
              </a:rPr>
              <a:t>Next</a:t>
            </a:r>
            <a:endParaRPr b="0" i="0" sz="1200" u="none" cap="none" strike="noStrike">
              <a:solidFill>
                <a:schemeClr val="dk1"/>
              </a:solidFill>
              <a:latin typeface="Arial"/>
              <a:ea typeface="Arial"/>
              <a:cs typeface="Arial"/>
              <a:sym typeface="Arial"/>
            </a:endParaRPr>
          </a:p>
        </p:txBody>
      </p:sp>
      <p:sp>
        <p:nvSpPr>
          <p:cNvPr id="168" name="Google Shape;168;p12"/>
          <p:cNvSpPr txBox="1"/>
          <p:nvPr/>
        </p:nvSpPr>
        <p:spPr>
          <a:xfrm>
            <a:off x="91440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00"/>
              <a:buFont typeface="Arial"/>
              <a:buNone/>
            </a:pPr>
            <a:r>
              <a:rPr b="1" i="0" lang="en-US" sz="2000" u="none" cap="none" strike="noStrike">
                <a:solidFill>
                  <a:srgbClr val="FFFFFF"/>
                </a:solidFill>
                <a:latin typeface="Arial"/>
                <a:ea typeface="Arial"/>
                <a:cs typeface="Arial"/>
                <a:sym typeface="Arial"/>
              </a:rPr>
              <a:t>Our own voice</a:t>
            </a:r>
            <a:endParaRPr b="0" i="0" sz="2000" u="none" cap="none" strike="noStrike">
              <a:solidFill>
                <a:schemeClr val="dk1"/>
              </a:solidFill>
              <a:latin typeface="Arial"/>
              <a:ea typeface="Arial"/>
              <a:cs typeface="Arial"/>
              <a:sym typeface="Arial"/>
            </a:endParaRPr>
          </a:p>
        </p:txBody>
      </p:sp>
      <p:sp>
        <p:nvSpPr>
          <p:cNvPr id="169" name="Google Shape;169;p12"/>
          <p:cNvSpPr txBox="1"/>
          <p:nvPr/>
        </p:nvSpPr>
        <p:spPr>
          <a:xfrm>
            <a:off x="91440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A voice model trained with native speakers</a:t>
            </a:r>
            <a:endParaRPr b="0" i="0" sz="1400" u="none" cap="none" strike="noStrike">
              <a:solidFill>
                <a:schemeClr val="dk1"/>
              </a:solidFill>
              <a:latin typeface="Arial"/>
              <a:ea typeface="Arial"/>
              <a:cs typeface="Arial"/>
              <a:sym typeface="Arial"/>
            </a:endParaRPr>
          </a:p>
        </p:txBody>
      </p:sp>
      <p:sp>
        <p:nvSpPr>
          <p:cNvPr id="170" name="Google Shape;170;p12"/>
          <p:cNvSpPr/>
          <p:nvPr/>
        </p:nvSpPr>
        <p:spPr>
          <a:xfrm>
            <a:off x="2743200" y="1810512"/>
            <a:ext cx="1097280" cy="310896"/>
          </a:xfrm>
          <a:prstGeom prst="roundRect">
            <a:avLst>
              <a:gd fmla="val 50000"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2"/>
          <p:cNvSpPr txBox="1"/>
          <p:nvPr/>
        </p:nvSpPr>
        <p:spPr>
          <a:xfrm>
            <a:off x="2743200" y="1810512"/>
            <a:ext cx="10972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200"/>
              <a:buFont typeface="Arial"/>
              <a:buNone/>
            </a:pPr>
            <a:r>
              <a:rPr b="1" i="0" lang="en-US" sz="1200" u="none" cap="none" strike="noStrike">
                <a:solidFill>
                  <a:srgbClr val="059669"/>
                </a:solidFill>
                <a:latin typeface="Arial"/>
                <a:ea typeface="Arial"/>
                <a:cs typeface="Arial"/>
                <a:sym typeface="Arial"/>
              </a:rPr>
              <a:t>Planned</a:t>
            </a:r>
            <a:endParaRPr b="0" i="0" sz="1200" u="none" cap="none" strike="noStrike">
              <a:solidFill>
                <a:schemeClr val="dk1"/>
              </a:solidFill>
              <a:latin typeface="Arial"/>
              <a:ea typeface="Arial"/>
              <a:cs typeface="Arial"/>
              <a:sym typeface="Arial"/>
            </a:endParaRPr>
          </a:p>
        </p:txBody>
      </p:sp>
      <p:sp>
        <p:nvSpPr>
          <p:cNvPr id="172" name="Google Shape;172;p12"/>
          <p:cNvSpPr/>
          <p:nvPr/>
        </p:nvSpPr>
        <p:spPr>
          <a:xfrm>
            <a:off x="4366260" y="1691640"/>
            <a:ext cx="3429000" cy="1828800"/>
          </a:xfrm>
          <a:prstGeom prst="roundRect">
            <a:avLst>
              <a:gd fmla="val 125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2"/>
          <p:cNvSpPr txBox="1"/>
          <p:nvPr/>
        </p:nvSpPr>
        <p:spPr>
          <a:xfrm>
            <a:off x="464058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1200"/>
              <a:buFont typeface="Arial"/>
              <a:buNone/>
            </a:pPr>
            <a:r>
              <a:rPr b="1" i="0" lang="en-US" spc="100" sz="1200" u="none" cap="none" strike="noStrike">
                <a:solidFill>
                  <a:srgbClr val="059669"/>
                </a:solidFill>
                <a:latin typeface="Arial"/>
                <a:ea typeface="Arial"/>
                <a:cs typeface="Arial"/>
                <a:sym typeface="Arial"/>
              </a:rPr>
              <a:t>Then</a:t>
            </a:r>
            <a:endParaRPr b="0" i="0" sz="1200" u="none" cap="none" strike="noStrike">
              <a:solidFill>
                <a:schemeClr val="dk1"/>
              </a:solidFill>
              <a:latin typeface="Arial"/>
              <a:ea typeface="Arial"/>
              <a:cs typeface="Arial"/>
              <a:sym typeface="Arial"/>
            </a:endParaRPr>
          </a:p>
        </p:txBody>
      </p:sp>
      <p:sp>
        <p:nvSpPr>
          <p:cNvPr id="174" name="Google Shape;174;p12"/>
          <p:cNvSpPr txBox="1"/>
          <p:nvPr/>
        </p:nvSpPr>
        <p:spPr>
          <a:xfrm>
            <a:off x="464058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Works offline</a:t>
            </a:r>
            <a:endParaRPr b="0" i="0" sz="2000" u="none" cap="none" strike="noStrike">
              <a:solidFill>
                <a:schemeClr val="dk1"/>
              </a:solidFill>
              <a:latin typeface="Arial"/>
              <a:ea typeface="Arial"/>
              <a:cs typeface="Arial"/>
              <a:sym typeface="Arial"/>
            </a:endParaRPr>
          </a:p>
        </p:txBody>
      </p:sp>
      <p:sp>
        <p:nvSpPr>
          <p:cNvPr id="175" name="Google Shape;175;p12"/>
          <p:cNvSpPr txBox="1"/>
          <p:nvPr/>
        </p:nvSpPr>
        <p:spPr>
          <a:xfrm>
            <a:off x="464058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Triage on the phone with Gemma 4</a:t>
            </a:r>
            <a:endParaRPr b="0" i="0" sz="1400" u="none" cap="none" strike="noStrike">
              <a:solidFill>
                <a:schemeClr val="dk1"/>
              </a:solidFill>
              <a:latin typeface="Arial"/>
              <a:ea typeface="Arial"/>
              <a:cs typeface="Arial"/>
              <a:sym typeface="Arial"/>
            </a:endParaRPr>
          </a:p>
        </p:txBody>
      </p:sp>
      <p:sp>
        <p:nvSpPr>
          <p:cNvPr id="176" name="Google Shape;176;p12"/>
          <p:cNvSpPr/>
          <p:nvPr/>
        </p:nvSpPr>
        <p:spPr>
          <a:xfrm>
            <a:off x="8092440" y="1691640"/>
            <a:ext cx="3429000" cy="1828800"/>
          </a:xfrm>
          <a:prstGeom prst="roundRect">
            <a:avLst>
              <a:gd fmla="val 12500" name="adj"/>
            </a:avLst>
          </a:prstGeom>
          <a:solidFill>
            <a:srgbClr val="ECFDF5"/>
          </a:solidFill>
          <a:ln cap="flat" cmpd="sng" w="12700">
            <a:solidFill>
              <a:srgbClr val="ECFD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
          <p:cNvSpPr txBox="1"/>
          <p:nvPr/>
        </p:nvSpPr>
        <p:spPr>
          <a:xfrm>
            <a:off x="8366760" y="1828800"/>
            <a:ext cx="1463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59669"/>
              </a:buClr>
              <a:buSzPts val="1200"/>
              <a:buFont typeface="Arial"/>
              <a:buNone/>
            </a:pPr>
            <a:r>
              <a:rPr b="1" i="0" lang="en-US" spc="100" sz="1200" u="none" cap="none" strike="noStrike">
                <a:solidFill>
                  <a:srgbClr val="059669"/>
                </a:solidFill>
                <a:latin typeface="Arial"/>
                <a:ea typeface="Arial"/>
                <a:cs typeface="Arial"/>
                <a:sym typeface="Arial"/>
              </a:rPr>
              <a:t>Always</a:t>
            </a:r>
            <a:endParaRPr b="0" i="0" sz="1200" u="none" cap="none" strike="noStrike">
              <a:solidFill>
                <a:schemeClr val="dk1"/>
              </a:solidFill>
              <a:latin typeface="Arial"/>
              <a:ea typeface="Arial"/>
              <a:cs typeface="Arial"/>
              <a:sym typeface="Arial"/>
            </a:endParaRPr>
          </a:p>
        </p:txBody>
      </p:sp>
      <p:sp>
        <p:nvSpPr>
          <p:cNvPr id="178" name="Google Shape;178;p12"/>
          <p:cNvSpPr txBox="1"/>
          <p:nvPr/>
        </p:nvSpPr>
        <p:spPr>
          <a:xfrm>
            <a:off x="8366760" y="2148840"/>
            <a:ext cx="2880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One voice identity</a:t>
            </a:r>
            <a:endParaRPr b="0" i="0" sz="2000" u="none" cap="none" strike="noStrike">
              <a:solidFill>
                <a:schemeClr val="dk1"/>
              </a:solidFill>
              <a:latin typeface="Arial"/>
              <a:ea typeface="Arial"/>
              <a:cs typeface="Arial"/>
              <a:sym typeface="Arial"/>
            </a:endParaRPr>
          </a:p>
        </p:txBody>
      </p:sp>
      <p:sp>
        <p:nvSpPr>
          <p:cNvPr id="179" name="Google Shape;179;p12"/>
          <p:cNvSpPr txBox="1"/>
          <p:nvPr/>
        </p:nvSpPr>
        <p:spPr>
          <a:xfrm>
            <a:off x="8366760" y="2606040"/>
            <a:ext cx="28803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400"/>
              <a:buFont typeface="Arial"/>
              <a:buNone/>
            </a:pPr>
            <a:r>
              <a:rPr b="0" i="0" lang="en-US" sz="1400" u="none" cap="none" strike="noStrike">
                <a:solidFill>
                  <a:srgbClr val="64748B"/>
                </a:solidFill>
                <a:latin typeface="Arial"/>
                <a:ea typeface="Arial"/>
                <a:cs typeface="Arial"/>
                <a:sym typeface="Arial"/>
              </a:rPr>
              <a:t>The same voice in the app and our product video</a:t>
            </a:r>
            <a:endParaRPr b="0" i="0" sz="1400" u="none" cap="none" strike="noStrike">
              <a:solidFill>
                <a:schemeClr val="dk1"/>
              </a:solidFill>
              <a:latin typeface="Arial"/>
              <a:ea typeface="Arial"/>
              <a:cs typeface="Arial"/>
              <a:sym typeface="Arial"/>
            </a:endParaRPr>
          </a:p>
        </p:txBody>
      </p:sp>
      <p:sp>
        <p:nvSpPr>
          <p:cNvPr id="180" name="Google Shape;180;p12"/>
          <p:cNvSpPr txBox="1"/>
          <p:nvPr/>
        </p:nvSpPr>
        <p:spPr>
          <a:xfrm>
            <a:off x="640080" y="3931920"/>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How we get there</a:t>
            </a:r>
            <a:endParaRPr b="0" i="0" sz="2000" u="none" cap="none" strike="noStrike">
              <a:solidFill>
                <a:schemeClr val="dk1"/>
              </a:solidFill>
              <a:latin typeface="Arial"/>
              <a:ea typeface="Arial"/>
              <a:cs typeface="Arial"/>
              <a:sym typeface="Arial"/>
            </a:endParaRPr>
          </a:p>
        </p:txBody>
      </p:sp>
      <p:sp>
        <p:nvSpPr>
          <p:cNvPr id="181" name="Google Shape;181;p12"/>
          <p:cNvSpPr txBox="1"/>
          <p:nvPr/>
        </p:nvSpPr>
        <p:spPr>
          <a:xfrm>
            <a:off x="640080" y="4434840"/>
            <a:ext cx="521208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Recruit and pay community voice contributors</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Record native speakers in all five languages</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Train and test the voice language by language</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Replace third-party text-to-speech APIs</a:t>
            </a:r>
            <a:endParaRPr b="0" i="0" sz="1600" u="none" cap="none" strike="noStrike">
              <a:solidFill>
                <a:schemeClr val="dk1"/>
              </a:solidFill>
              <a:latin typeface="Arial"/>
              <a:ea typeface="Arial"/>
              <a:cs typeface="Arial"/>
              <a:sym typeface="Arial"/>
            </a:endParaRPr>
          </a:p>
        </p:txBody>
      </p:sp>
      <p:sp>
        <p:nvSpPr>
          <p:cNvPr id="182" name="Google Shape;182;p12"/>
          <p:cNvSpPr txBox="1"/>
          <p:nvPr/>
        </p:nvSpPr>
        <p:spPr>
          <a:xfrm>
            <a:off x="6309360" y="3931920"/>
            <a:ext cx="5212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000"/>
              <a:buFont typeface="Arial"/>
              <a:buNone/>
            </a:pPr>
            <a:r>
              <a:rPr b="1" i="0" lang="en-US" sz="2000" u="none" cap="none" strike="noStrike">
                <a:solidFill>
                  <a:srgbClr val="0F172A"/>
                </a:solidFill>
                <a:latin typeface="Arial"/>
                <a:ea typeface="Arial"/>
                <a:cs typeface="Arial"/>
                <a:sym typeface="Arial"/>
              </a:rPr>
              <a:t>Why it matters</a:t>
            </a:r>
            <a:endParaRPr b="0" i="0" sz="2000" u="none" cap="none" strike="noStrike">
              <a:solidFill>
                <a:schemeClr val="dk1"/>
              </a:solidFill>
              <a:latin typeface="Arial"/>
              <a:ea typeface="Arial"/>
              <a:cs typeface="Arial"/>
              <a:sym typeface="Arial"/>
            </a:endParaRPr>
          </a:p>
        </p:txBody>
      </p:sp>
      <p:sp>
        <p:nvSpPr>
          <p:cNvPr id="183" name="Google Shape;183;p12"/>
          <p:cNvSpPr txBox="1"/>
          <p:nvPr/>
        </p:nvSpPr>
        <p:spPr>
          <a:xfrm>
            <a:off x="6309360" y="4434840"/>
            <a:ext cx="521208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Faster: no trip to a third-party API</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Offline: location plus stored hospital data</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First-aid content kept on the phone</a:t>
            </a:r>
            <a:endParaRPr b="0" i="0" sz="1600" u="none" cap="none" strike="noStrike">
              <a:solidFill>
                <a:schemeClr val="dk1"/>
              </a:solidFill>
              <a:latin typeface="Arial"/>
              <a:ea typeface="Arial"/>
              <a:cs typeface="Arial"/>
              <a:sym typeface="Arial"/>
            </a:endParaRPr>
          </a:p>
          <a:p>
            <a:pPr indent="-342900" lvl="0" marL="342900" marR="0" rtl="0" algn="l">
              <a:spcBef>
                <a:spcPts val="600"/>
              </a:spcBef>
              <a:spcAft>
                <a:spcPts val="0"/>
              </a:spcAft>
              <a:buClr>
                <a:srgbClr val="0F172A"/>
              </a:buClr>
              <a:buSzPts val="1600"/>
              <a:buFont typeface="Arial"/>
              <a:buChar char="•"/>
            </a:pPr>
            <a:r>
              <a:rPr b="0" i="0" lang="en-US" sz="1600" u="none" cap="none" strike="noStrike">
                <a:solidFill>
                  <a:srgbClr val="0F172A"/>
                </a:solidFill>
                <a:latin typeface="Arial"/>
                <a:ea typeface="Arial"/>
                <a:cs typeface="Arial"/>
                <a:sym typeface="Arial"/>
              </a:rPr>
              <a:t>Today it is online, as every API is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Alavia">
  <a:themeElements>
    <a:clrScheme name="Alavia">
      <a:dk1>
        <a:srgbClr val="0F172A"/>
      </a:dk1>
      <a:lt1>
        <a:srgbClr val="FFFFFF"/>
      </a:lt1>
      <a:dk2>
        <a:srgbClr val="064E3B"/>
      </a:dk2>
      <a:lt2>
        <a:srgbClr val="ECFDF5"/>
      </a:lt2>
      <a:accent1>
        <a:srgbClr val="059669"/>
      </a:accent1>
      <a:accent2>
        <a:srgbClr val="10B981"/>
      </a:accent2>
      <a:accent3>
        <a:srgbClr val="D97706"/>
      </a:accent3>
      <a:accent4>
        <a:srgbClr val="EA580C"/>
      </a:accent4>
      <a:accent5>
        <a:srgbClr val="DC2626"/>
      </a:accent5>
      <a:accent6>
        <a:srgbClr val="64748B"/>
      </a:accent6>
      <a:hlink>
        <a:srgbClr val="059669"/>
      </a:hlink>
      <a:folHlink>
        <a:srgbClr val="6474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lavia">
  <a:themeElements>
    <a:clrScheme name="Alavia">
      <a:dk1>
        <a:srgbClr val="0F172A"/>
      </a:dk1>
      <a:lt1>
        <a:srgbClr val="FFFFFF"/>
      </a:lt1>
      <a:dk2>
        <a:srgbClr val="064E3B"/>
      </a:dk2>
      <a:lt2>
        <a:srgbClr val="ECFDF5"/>
      </a:lt2>
      <a:accent1>
        <a:srgbClr val="059669"/>
      </a:accent1>
      <a:accent2>
        <a:srgbClr val="10B981"/>
      </a:accent2>
      <a:accent3>
        <a:srgbClr val="D97706"/>
      </a:accent3>
      <a:accent4>
        <a:srgbClr val="EA580C"/>
      </a:accent4>
      <a:accent5>
        <a:srgbClr val="DC2626"/>
      </a:accent5>
      <a:accent6>
        <a:srgbClr val="64748B"/>
      </a:accent6>
      <a:hlink>
        <a:srgbClr val="059669"/>
      </a:hlink>
      <a:folHlink>
        <a:srgbClr val="6474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