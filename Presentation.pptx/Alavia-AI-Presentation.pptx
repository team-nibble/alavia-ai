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27432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5486400" cy="36576"/>
          </a:xfrm>
          <a:prstGeom prst="rect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320040"/>
            <a:ext cx="2377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320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CAVISTA HACKATHON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9601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Alavia-AI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Voice-First AI Health Partner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880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Nigeria. Built for Lives.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1371600" cy="347472"/>
          </a:xfrm>
          <a:prstGeom prst="rect">
            <a:avLst/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4290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Team Nibble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640080" cy="64008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60320"/>
            <a:ext cx="640080" cy="64008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0"/>
            <a:ext cx="640080" cy="6400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17920" y="4389120"/>
            <a:ext cx="320040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75120" y="4389120"/>
            <a:ext cx="320040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0" y="4389120"/>
            <a:ext cx="320040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89520" y="4389120"/>
            <a:ext cx="320040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046720" y="4389120"/>
            <a:ext cx="320040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206240" cy="5070348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Nigeria's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Gap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3657600" cy="2560320"/>
          </a:xfrm>
          <a:prstGeom prst="rect">
            <a:avLst/>
          </a:prstGeom>
          <a:solidFill>
            <a:srgbClr val="0A1F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</a:rPr>
              <a:t>Real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notices his leg is swollen. He ignores it, asks neighbours, takes local herbs. Weeks later he's in the ER — with chronic kidney disease that could have been caught early.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457200"/>
            <a:ext cx="4389120" cy="685800"/>
          </a:xfrm>
          <a:prstGeom prst="rect">
            <a:avLst/>
          </a:prstGeom>
          <a:solidFill>
            <a:srgbClr val="0F2D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566928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5943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66360" y="566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ignore early symptoms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1325880"/>
            <a:ext cx="4389120" cy="685800"/>
          </a:xfrm>
          <a:prstGeom prst="rect">
            <a:avLst/>
          </a:prstGeom>
          <a:solidFill>
            <a:srgbClr val="0F2D4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435608"/>
            <a:ext cx="457200" cy="457200"/>
          </a:xfrm>
          <a:prstGeom prst="ellipse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30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66360" y="1435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reduce health literacy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80560" y="2194560"/>
            <a:ext cx="4389120" cy="685800"/>
          </a:xfrm>
          <a:prstGeom prst="rect">
            <a:avLst/>
          </a:prstGeom>
          <a:solidFill>
            <a:srgbClr val="0F2D4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2304288"/>
            <a:ext cx="457200" cy="45720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3317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66360" y="2304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informal advice &amp; self-medication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480560" y="3063240"/>
            <a:ext cx="4389120" cy="685800"/>
          </a:xfrm>
          <a:prstGeom prst="rect">
            <a:avLst/>
          </a:prstGeom>
          <a:solidFill>
            <a:srgbClr val="0F2D4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17720" y="3172968"/>
            <a:ext cx="457200" cy="45720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2004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66360" y="3172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are overcrowded &amp; under-resourced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480560" y="3931920"/>
            <a:ext cx="4389120" cy="685800"/>
          </a:xfrm>
          <a:prstGeom prst="rect">
            <a:avLst/>
          </a:prstGeom>
          <a:solidFill>
            <a:srgbClr val="0F2D4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17720" y="4041648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06908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66360" y="4041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pre-hospital guidance exists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480560" y="4663440"/>
            <a:ext cx="43891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480560" y="4663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Result: Delays in care → Preventable deaths.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THE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Exists vs. What's Missing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566160"/>
          </a:xfrm>
          <a:prstGeom prst="rect">
            <a:avLst/>
          </a:prstGeom>
          <a:solidFill>
            <a:srgbClr val="EFF9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Existing Solutions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chatbots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12848"/>
            <a:ext cx="32004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health apps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32004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systems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32004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57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routing intelligence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560320"/>
            <a:ext cx="457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✗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937760" y="1188720"/>
            <a:ext cx="3840480" cy="3566160"/>
          </a:xfrm>
          <a:prstGeom prst="rect">
            <a:avLst/>
          </a:prstGeom>
          <a:solidFill>
            <a:srgbClr val="FFF0F0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188720"/>
            <a:ext cx="38404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They Do NOT...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80136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local Nigerian languages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120640" y="2212848"/>
            <a:ext cx="3383280" cy="914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44144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8640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structured first aid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120640" y="2852928"/>
            <a:ext cx="3383280" cy="914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08152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48640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users to the right hospital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120640" y="3493008"/>
            <a:ext cx="3383280" cy="914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72160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Nigerian health context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Alavia-AI was built to fill every one of these gaps.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2C39A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Alavia-AI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multilingual, voice-first AI health partner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66928"/>
          </a:xfrm>
          <a:prstGeom prst="rect">
            <a:avLst/>
          </a:prstGeom>
          <a:solidFill>
            <a:srgbClr val="0F2D4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91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1764792"/>
            <a:ext cx="420624" cy="420624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79222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6916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to Symptoms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6916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interface in your language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350008"/>
            <a:ext cx="8412480" cy="566928"/>
          </a:xfrm>
          <a:prstGeom prst="rect">
            <a:avLst/>
          </a:prstGeom>
          <a:solidFill>
            <a:srgbClr val="0F2D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2920" y="23500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05840" y="2423160"/>
            <a:ext cx="420624" cy="420624"/>
          </a:xfrm>
          <a:prstGeom prst="ellipse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45059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235000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Urgency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29200" y="23500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severity instantly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008376"/>
            <a:ext cx="8412480" cy="566928"/>
          </a:xfrm>
          <a:prstGeom prst="rect">
            <a:avLst/>
          </a:prstGeom>
          <a:solidFill>
            <a:srgbClr val="0F2D4A"/>
          </a:solidFill>
          <a:ln w="9525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02920" y="30083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05840" y="3081528"/>
            <a:ext cx="420624" cy="420624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108960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30083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Guidance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029200" y="30083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structured steps before hospital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65760" y="3666744"/>
            <a:ext cx="8412480" cy="566928"/>
          </a:xfrm>
          <a:prstGeom prst="rect">
            <a:avLst/>
          </a:prstGeom>
          <a:solidFill>
            <a:srgbClr val="0F2D4A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02920" y="36667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1005840" y="3739896"/>
            <a:ext cx="420624" cy="420624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767328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08760" y="36667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Right Hospital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029200" y="36667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by specialty &amp; distance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65760" y="4325112"/>
            <a:ext cx="8412480" cy="566928"/>
          </a:xfrm>
          <a:prstGeom prst="rect">
            <a:avLst/>
          </a:prstGeom>
          <a:solidFill>
            <a:srgbClr val="0F2D4A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502920" y="43251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1005840" y="4398264"/>
            <a:ext cx="420624" cy="420624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425696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08760" y="43251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Your Data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5029200" y="43251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minimal data stored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Simple. Clear. 7 Steps.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7043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600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1031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Onboarding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7472" y="233172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Quick setup, no complexity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249424" y="160020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50008" y="109728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23160" y="117043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2316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388" y="16002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23160" y="21031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Language Selection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423160" y="233172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English · Pidgin · Yoruba · Hausa · Igbo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4325112" y="160020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425696" y="109728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98848" y="1170432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98848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6" y="16002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98848" y="21031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Voice Symptom Description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498848" y="233172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Just speak — no typing needed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6400800" y="160020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501384" y="109728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74536" y="117043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74536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764" y="160020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574536" y="21031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AI Assessment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574536" y="233172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Smart triage of your condition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1371600" y="269748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444752" y="2770632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444752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5980" y="320040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44752" y="37033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First Aid Recommendation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444752" y="393192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Immediate safe guidance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3346704" y="320040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3447288" y="269748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520440" y="2770632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52044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1668" y="3200400"/>
            <a:ext cx="457200" cy="4572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3520440" y="37033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Hospital Routing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3520440" y="393192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Nearest + best-fit facility</a:t>
            </a:r>
            <a:endParaRPr lang="en-US" sz="700" dirty="0"/>
          </a:p>
        </p:txBody>
      </p:sp>
      <p:sp>
        <p:nvSpPr>
          <p:cNvPr id="45" name="Text 37"/>
          <p:cNvSpPr/>
          <p:nvPr/>
        </p:nvSpPr>
        <p:spPr>
          <a:xfrm>
            <a:off x="5422392" y="320040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38"/>
          <p:cNvSpPr/>
          <p:nvPr/>
        </p:nvSpPr>
        <p:spPr>
          <a:xfrm>
            <a:off x="5522976" y="269748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5596128" y="277063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5596128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356" y="3200400"/>
            <a:ext cx="457200" cy="45720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596128" y="370332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Optional Summary Report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5596128" y="393192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Session summary for your records</a:t>
            </a:r>
            <a:endParaRPr lang="en-US" sz="700" dirty="0"/>
          </a:p>
        </p:txBody>
      </p:sp>
      <p:sp>
        <p:nvSpPr>
          <p:cNvPr id="52" name="Shape 43"/>
          <p:cNvSpPr/>
          <p:nvPr/>
        </p:nvSpPr>
        <p:spPr>
          <a:xfrm>
            <a:off x="3977640" y="2514600"/>
            <a:ext cx="5486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WHAT MAKES IT UNIQUE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Reasons Alavia-AI Stands Apart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508760"/>
          </a:xfrm>
          <a:prstGeom prst="rect">
            <a:avLst/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548640" cy="548640"/>
          </a:xfrm>
          <a:prstGeom prst="ellipse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4416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all — no typing, no barriers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097280"/>
            <a:ext cx="2651760" cy="1508760"/>
          </a:xfrm>
          <a:prstGeom prst="rect">
            <a:avLst/>
          </a:prstGeom>
          <a:solidFill>
            <a:srgbClr val="0F2D4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097280"/>
            <a:ext cx="265176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1280160"/>
            <a:ext cx="548640" cy="548640"/>
          </a:xfrm>
          <a:prstGeom prst="ellipse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34416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Nigerian Languages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06908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Pidgin, Yoruba, Hausa, Igbo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097280"/>
            <a:ext cx="2651760" cy="1508760"/>
          </a:xfrm>
          <a:prstGeom prst="rect">
            <a:avLst/>
          </a:prstGeom>
          <a:solidFill>
            <a:srgbClr val="0F2D4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09728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1280160"/>
            <a:ext cx="548640" cy="548640"/>
          </a:xfrm>
          <a:prstGeom prst="ellipse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34416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4944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Guidance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94944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help before reaching hospital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2834640"/>
            <a:ext cx="2651760" cy="1508760"/>
          </a:xfrm>
          <a:prstGeom prst="rect">
            <a:avLst/>
          </a:prstGeom>
          <a:solidFill>
            <a:srgbClr val="0F2D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283464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02920" y="3017520"/>
            <a:ext cx="548640" cy="54864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081528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Routing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8872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specialty, not just distance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46120" y="2834640"/>
            <a:ext cx="2651760" cy="1508760"/>
          </a:xfrm>
          <a:prstGeom prst="rect">
            <a:avLst/>
          </a:prstGeom>
          <a:solidFill>
            <a:srgbClr val="0F2D4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2834640"/>
            <a:ext cx="26517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83280" y="3017520"/>
            <a:ext cx="548640" cy="548640"/>
          </a:xfrm>
          <a:prstGeom prst="ellipse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081528"/>
            <a:ext cx="420624" cy="42062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6908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06908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data, encrypted, user-controlled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126480" y="2834640"/>
            <a:ext cx="2651760" cy="1508760"/>
          </a:xfrm>
          <a:prstGeom prst="rect">
            <a:avLst/>
          </a:prstGeom>
          <a:solidFill>
            <a:srgbClr val="0F2D4A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2834640"/>
            <a:ext cx="26517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63640" y="3017520"/>
            <a:ext cx="548640" cy="548640"/>
          </a:xfrm>
          <a:prstGeom prst="ellipse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081528"/>
            <a:ext cx="420624" cy="42062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4944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Nigeria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94944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context, real healthcare realities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ROUTING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Just "Nearest Hospital."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65960" cy="1417320"/>
          </a:xfrm>
          <a:prstGeom prst="rect">
            <a:avLst/>
          </a:prstGeom>
          <a:solidFill>
            <a:srgbClr val="0F2D4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1965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353312"/>
            <a:ext cx="457200" cy="45720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3990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18745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Severity Level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219456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Critical vs. non-urgent triage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42032" y="1234440"/>
            <a:ext cx="1965960" cy="1417320"/>
          </a:xfrm>
          <a:prstGeom prst="rect">
            <a:avLst/>
          </a:prstGeom>
          <a:solidFill>
            <a:srgbClr val="0F2D4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234440"/>
            <a:ext cx="196596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353312"/>
            <a:ext cx="457200" cy="457200"/>
          </a:xfrm>
          <a:prstGeom prst="ellipse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39903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15184" y="18745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Required Specialty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615184" y="219456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Matched to condition type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18304" y="1234440"/>
            <a:ext cx="1965960" cy="1417320"/>
          </a:xfrm>
          <a:prstGeom prst="rect">
            <a:avLst/>
          </a:prstGeom>
          <a:solidFill>
            <a:srgbClr val="0F2D4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1234440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68112" y="1353312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139903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91456" y="18745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Distance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91456" y="219456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Closest qualifying facility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894576" y="1234440"/>
            <a:ext cx="1965960" cy="1417320"/>
          </a:xfrm>
          <a:prstGeom prst="rect">
            <a:avLst/>
          </a:prstGeom>
          <a:solidFill>
            <a:srgbClr val="0F2D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94576" y="123444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644384" y="1353312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139903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67728" y="18745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Facility Capability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967728" y="219456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Equipment &amp; resources available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2286000" y="1691640"/>
            <a:ext cx="7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+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4462272" y="1691640"/>
            <a:ext cx="7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+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6638544" y="1691640"/>
            <a:ext cx="7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+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365760" y="2834640"/>
            <a:ext cx="8412480" cy="1417320"/>
          </a:xfrm>
          <a:prstGeom prst="rect">
            <a:avLst/>
          </a:prstGeom>
          <a:solidFill>
            <a:srgbClr val="0F2D4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65760" y="2834640"/>
            <a:ext cx="10972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9436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</a:rPr>
              <a:t>Real Example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94360" y="3291840"/>
            <a:ext cx="1737360" cy="594360"/>
          </a:xfrm>
          <a:prstGeom prst="rect">
            <a:avLst/>
          </a:prstGeom>
          <a:solidFill>
            <a:srgbClr val="38BDF8">
              <a:alpha val="8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4360" y="3291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Swollen Leg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2331720" y="329184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2606040" y="3291840"/>
            <a:ext cx="1737360" cy="59436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606040" y="3291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AI: Kidney Risk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4343400" y="329184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4617720" y="3291840"/>
            <a:ext cx="1737360" cy="594360"/>
          </a:xfrm>
          <a:prstGeom prst="rect">
            <a:avLst/>
          </a:prstGeom>
          <a:solidFill>
            <a:srgbClr val="EF4444">
              <a:alpha val="8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617720" y="3291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Severity: High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6355080" y="329184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38"/>
          <p:cNvSpPr/>
          <p:nvPr/>
        </p:nvSpPr>
        <p:spPr>
          <a:xfrm>
            <a:off x="6629400" y="3291840"/>
            <a:ext cx="1737360" cy="594360"/>
          </a:xfrm>
          <a:prstGeom prst="rect">
            <a:avLst/>
          </a:prstGeom>
          <a:solidFill>
            <a:srgbClr val="02C39A">
              <a:alpha val="8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629400" y="3291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Nephrology Unit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594360" y="40050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0F2FE"/>
                </a:solidFill>
              </a:rPr>
              <a:t>= Nearest Nephrology-capable hospital, not just the closest building.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That's Smart Routing.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</a:rPr>
              <a:t>DATA PROTECTION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Is Not a Feature — It's a Foundation.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0" y="457200"/>
            <a:ext cx="25603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457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Aligns with Hackathon Theme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78992"/>
            <a:ext cx="914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179576"/>
            <a:ext cx="457200" cy="45720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0700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133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Stored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14081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collect what is absolutely necessary for health assessment.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184708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1847088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1947672"/>
            <a:ext cx="457200" cy="45720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7510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Personal Info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" y="21762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personal identifiers are captured or retained.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261518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2615184"/>
            <a:ext cx="9144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66928" y="2715768"/>
            <a:ext cx="457200" cy="457200"/>
          </a:xfrm>
          <a:prstGeom prst="ellipse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4320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43000" y="2670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Communication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43000" y="29443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transit and at rest is protected with encryption.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65760" y="33832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65760" y="3383280"/>
            <a:ext cx="914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483864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11296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43000" y="3438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Control Their Data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143000" y="37124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view, manage, and delete their information at any time.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65760" y="41513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65760" y="4151376"/>
            <a:ext cx="9144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66928" y="4251960"/>
            <a:ext cx="457200" cy="457200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279392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430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Permanent AI Memory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1143000" y="4480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are not retained permanently by the AI model.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2C39A"/>
                </a:solidFill>
              </a:rPr>
              <a:t>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Alavia-AI Can Change Lives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560320" cy="1508760"/>
          </a:xfrm>
          <a:prstGeom prst="rect">
            <a:avLst/>
          </a:prstGeom>
          <a:solidFill>
            <a:srgbClr val="0F2D4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9728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261872"/>
            <a:ext cx="548640" cy="54864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335024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9019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Faster Care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Reduce delayed healthcare decisions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37560" y="1097280"/>
            <a:ext cx="2560320" cy="1508760"/>
          </a:xfrm>
          <a:prstGeom prst="rect">
            <a:avLst/>
          </a:prstGeom>
          <a:solidFill>
            <a:srgbClr val="0F2D4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09728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43400" y="1261872"/>
            <a:ext cx="548640" cy="54864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335024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19019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Better Knowledge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29000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Improve health literacy nationwide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2200" y="1097280"/>
            <a:ext cx="2560320" cy="1508760"/>
          </a:xfrm>
          <a:prstGeom prst="rect">
            <a:avLst/>
          </a:prstGeom>
          <a:solidFill>
            <a:srgbClr val="0F2D4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1097280"/>
            <a:ext cx="25603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178040" y="1261872"/>
            <a:ext cx="548640" cy="548640"/>
          </a:xfrm>
          <a:prstGeom prst="ellipse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335024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72200" y="19019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Wider Reach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63640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Support rural &amp; elderly populations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1280160" y="2788920"/>
            <a:ext cx="3291840" cy="1508760"/>
          </a:xfrm>
          <a:prstGeom prst="rect">
            <a:avLst/>
          </a:prstGeom>
          <a:solidFill>
            <a:srgbClr val="0F2D4A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280160" y="2788920"/>
            <a:ext cx="32918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651760" y="2953512"/>
            <a:ext cx="548640" cy="548640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3026664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80160" y="35935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Less Crowding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371600" y="39044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Reduce hospital overcrowding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303520" y="2788920"/>
            <a:ext cx="3291840" cy="1508760"/>
          </a:xfrm>
          <a:prstGeom prst="rect">
            <a:avLst/>
          </a:prstGeom>
          <a:solidFill>
            <a:srgbClr val="0F2D4A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303520" y="2788920"/>
            <a:ext cx="32918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675120" y="2953512"/>
            <a:ext cx="548640" cy="54864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3026664"/>
            <a:ext cx="402336" cy="40233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03520" y="35935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Save Lives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394960" y="39044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Prevent avoidable deaths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From first symptom to the right care — Alavia-AI bridges the gap.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FUTURE EXPANSION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Just the Beginning.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0F2D4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914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"/>
            <a:ext cx="685800" cy="256032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Phase 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0" y="1197864"/>
            <a:ext cx="457200" cy="45720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1225296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1152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Hospital Capacity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965960" y="14447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bed availability &amp; wait time integration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1865376"/>
            <a:ext cx="8412480" cy="658368"/>
          </a:xfrm>
          <a:prstGeom prst="rect">
            <a:avLst/>
          </a:prstGeom>
          <a:solidFill>
            <a:srgbClr val="0F2D4A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1865376"/>
            <a:ext cx="9144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2029968"/>
            <a:ext cx="685800" cy="256032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0299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Phase 2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371600" y="1965960"/>
            <a:ext cx="457200" cy="45720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1993392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65960" y="1920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965960" y="22128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dispatch integration with ambulance &amp; 911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65760" y="2633472"/>
            <a:ext cx="8412480" cy="658368"/>
          </a:xfrm>
          <a:prstGeom prst="rect">
            <a:avLst/>
          </a:prstGeom>
          <a:solidFill>
            <a:srgbClr val="0F2D4A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2633472"/>
            <a:ext cx="9144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6928" y="2798064"/>
            <a:ext cx="685800" cy="256032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27980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Phase 3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1371600" y="2734056"/>
            <a:ext cx="457200" cy="45720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2761488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65960" y="26883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Integration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965960" y="298094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HMO &amp; NHIS-linked coverage verification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3401568"/>
            <a:ext cx="8412480" cy="658368"/>
          </a:xfrm>
          <a:prstGeom prst="rect">
            <a:avLst/>
          </a:prstGeom>
          <a:solidFill>
            <a:srgbClr val="0F2D4A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65760" y="3401568"/>
            <a:ext cx="9144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66928" y="3566160"/>
            <a:ext cx="685800" cy="256032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66928" y="35661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3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1371600" y="3502152"/>
            <a:ext cx="457200" cy="457200"/>
          </a:xfrm>
          <a:prstGeom prst="ellipse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3529584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965960" y="3456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Rural Version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1965960" y="37490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app for low-connectivity zones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365760" y="4169664"/>
            <a:ext cx="8412480" cy="658368"/>
          </a:xfrm>
          <a:prstGeom prst="rect">
            <a:avLst/>
          </a:prstGeom>
          <a:solidFill>
            <a:srgbClr val="0F2D4A"/>
          </a:solidFill>
          <a:ln w="9525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65760" y="4169664"/>
            <a:ext cx="9144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66928" y="4334256"/>
            <a:ext cx="685800" cy="256032"/>
          </a:xfrm>
          <a:prstGeom prst="rect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66928" y="43342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Phase 4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1371600" y="4270248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464" y="4297680"/>
            <a:ext cx="347472" cy="34747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965960" y="4224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Hospital Database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1965960" y="45171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Comprehensive, verified facility registry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828"/>
                </a:solidFill>
              </a:rPr>
              <a:t>Alavia-AI is built to scale across Nigeria — and beyond.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Alavia-AI</a:t>
            </a:r>
            <a:endParaRPr lang="en-US" sz="6400" dirty="0"/>
          </a:p>
        </p:txBody>
      </p:sp>
      <p:sp>
        <p:nvSpPr>
          <p:cNvPr id="8" name="Shape 5"/>
          <p:cNvSpPr/>
          <p:nvPr/>
        </p:nvSpPr>
        <p:spPr>
          <a:xfrm>
            <a:off x="365760" y="274320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Voice. Language. Care. Delivered.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Nigeria. Powered by AI. Guided by empathy.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3931920"/>
            <a:ext cx="1645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Nibble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148840" y="3931920"/>
            <a:ext cx="2194560" cy="411480"/>
          </a:xfrm>
          <a:prstGeom prst="rect">
            <a:avLst/>
          </a:prstGeom>
          <a:solidFill>
            <a:srgbClr val="0F2D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Cavista Hackathon 2026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4526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Alavia-AI – Multilingual Voice-First AI Health Partner</dc:title>
  <dc:subject>PptxGenJS Presentation</dc:subject>
  <dc:creator>Team Nibble</dc:creator>
  <cp:lastModifiedBy>Team Nibble</cp:lastModifiedBy>
  <cp:revision>1</cp:revision>
  <dcterms:created xsi:type="dcterms:W3CDTF">2026-02-21T14:59:52Z</dcterms:created>
  <dcterms:modified xsi:type="dcterms:W3CDTF">2026-02-21T14:59:52Z</dcterms:modified>
</cp:coreProperties>
</file>