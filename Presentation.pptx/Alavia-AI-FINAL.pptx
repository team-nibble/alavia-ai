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4747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474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FFFFFF"/>
                </a:solidFill>
              </a:rPr>
              <a:t>CAVISTA HACKATHON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877824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347472" y="193852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347472" y="2926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· Voice-First · AI Health Partner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3401568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5295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Nigeria. Built for Lives.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4041648"/>
            <a:ext cx="1554480" cy="384048"/>
          </a:xfrm>
          <a:prstGeom prst="rect">
            <a:avLst/>
          </a:prstGeom>
          <a:solidFill>
            <a:srgbClr val="0D2F52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40416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Team Nibble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457200"/>
            <a:ext cx="2560320" cy="1188720"/>
          </a:xfrm>
          <a:prstGeom prst="rect">
            <a:avLst/>
          </a:prstGeom>
          <a:solidFill>
            <a:srgbClr val="0A264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45720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64008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749808"/>
            <a:ext cx="557784" cy="5577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315200" y="8046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7920" y="1828800"/>
            <a:ext cx="2560320" cy="1188720"/>
          </a:xfrm>
          <a:prstGeom prst="rect">
            <a:avLst/>
          </a:prstGeom>
          <a:solidFill>
            <a:srgbClr val="0A2647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17920" y="1828800"/>
            <a:ext cx="73152" cy="1188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0" y="2011680"/>
            <a:ext cx="777240" cy="7772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2121408"/>
            <a:ext cx="557784" cy="5577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315200" y="21762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Languages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217920" y="3200400"/>
            <a:ext cx="2560320" cy="1188720"/>
          </a:xfrm>
          <a:prstGeom prst="rect">
            <a:avLst/>
          </a:prstGeom>
          <a:solidFill>
            <a:srgbClr val="0A2647"/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3200400"/>
            <a:ext cx="73152" cy="1188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00800" y="3383280"/>
            <a:ext cx="777240" cy="7772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493008"/>
            <a:ext cx="557784" cy="5577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315200" y="35478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114800" cy="5079492"/>
          </a:xfrm>
          <a:prstGeom prst="rect">
            <a:avLst/>
          </a:prstGeom>
          <a:solidFill>
            <a:srgbClr val="040E1A"/>
          </a:solidFill>
          <a:ln w="12700">
            <a:solidFill>
              <a:srgbClr val="04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EF4444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Nigeria's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Gap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3566160" cy="2743200"/>
          </a:xfrm>
          <a:prstGeom prst="rect">
            <a:avLst/>
          </a:prstGeom>
          <a:solidFill>
            <a:srgbClr val="0D2F52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103120"/>
            <a:ext cx="91440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REAL STORY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“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30352" y="2633472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notices his leg is swollen.</a:t>
            </a: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ignores it — asks neighbours,</a:t>
            </a: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herbal remedies.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later he's in the ER with</a:t>
            </a: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kidney disease that could</a:t>
            </a: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detected early.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74320"/>
            <a:ext cx="4480560" cy="713232"/>
          </a:xfrm>
          <a:prstGeom prst="rect">
            <a:avLst/>
          </a:prstGeom>
          <a:solidFill>
            <a:srgbClr val="0D2F5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402336"/>
            <a:ext cx="457200" cy="45720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9996" y="448056"/>
            <a:ext cx="338328" cy="3383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47488" y="27432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ignore early symptoms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43400" y="1106424"/>
            <a:ext cx="4480560" cy="713232"/>
          </a:xfrm>
          <a:prstGeom prst="rect">
            <a:avLst/>
          </a:prstGeom>
          <a:solidFill>
            <a:srgbClr val="0D2F52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80560" y="123444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280160"/>
            <a:ext cx="338328" cy="3383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47488" y="11064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 reduce health literacy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343400" y="1938528"/>
            <a:ext cx="4480560" cy="713232"/>
          </a:xfrm>
          <a:prstGeom prst="rect">
            <a:avLst/>
          </a:prstGeom>
          <a:solidFill>
            <a:srgbClr val="0D2F52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80560" y="2066544"/>
            <a:ext cx="457200" cy="457200"/>
          </a:xfrm>
          <a:prstGeom prst="ellipse">
            <a:avLst/>
          </a:prstGeom>
          <a:solidFill>
            <a:srgbClr val="3B1F6B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6" y="2112264"/>
            <a:ext cx="338328" cy="3383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47488" y="1938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informal advice &amp; self-medication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343400" y="2770632"/>
            <a:ext cx="4480560" cy="713232"/>
          </a:xfrm>
          <a:prstGeom prst="rect">
            <a:avLst/>
          </a:prstGeom>
          <a:solidFill>
            <a:srgbClr val="0D2F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480560" y="2898648"/>
            <a:ext cx="457200" cy="457200"/>
          </a:xfrm>
          <a:prstGeom prst="ellipse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2944368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047488" y="277063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are overcrowded &amp; under-resourced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343400" y="3602736"/>
            <a:ext cx="4480560" cy="713232"/>
          </a:xfrm>
          <a:prstGeom prst="rect">
            <a:avLst/>
          </a:prstGeom>
          <a:solidFill>
            <a:srgbClr val="0D2F52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80560" y="3730752"/>
            <a:ext cx="457200" cy="45720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996" y="3776472"/>
            <a:ext cx="338328" cy="33832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47488" y="360273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pre-hospital guidance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343400" y="4507992"/>
            <a:ext cx="448056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343400" y="45079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Delays in care  →  Preventable deaths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4B8A6"/>
                </a:solidFill>
              </a:rPr>
              <a:t>THE GAP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Exists vs. What's Missing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840480" cy="3749040"/>
          </a:xfrm>
          <a:prstGeom prst="rect">
            <a:avLst/>
          </a:prstGeom>
          <a:solidFill>
            <a:srgbClr val="040E1A"/>
          </a:solidFill>
          <a:ln w="9525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384048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Existing Solutions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4767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64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chatbots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496312"/>
            <a:ext cx="3474720" cy="9144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432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health apps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3474720" cy="9144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3872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3558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systems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087368"/>
            <a:ext cx="3474720" cy="9144"/>
          </a:xfrm>
          <a:prstGeom prst="rect">
            <a:avLst/>
          </a:prstGeom>
          <a:solidFill>
            <a:srgbClr val="0D2F52"/>
          </a:solidFill>
          <a:ln w="12700">
            <a:solidFill>
              <a:srgbClr val="0D2F5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3342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15137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intelligence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325112" y="24688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32511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✕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4937760" y="1170432"/>
            <a:ext cx="3840480" cy="3749040"/>
          </a:xfrm>
          <a:prstGeom prst="rect">
            <a:avLst/>
          </a:prstGeom>
          <a:solidFill>
            <a:srgbClr val="1A0A0A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937760" y="1170432"/>
            <a:ext cx="384048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937760" y="1170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They Do NOT…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947672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96128" y="17647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local Nigerian languages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120640" y="2496312"/>
            <a:ext cx="3474720" cy="9144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74320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96128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structured first aid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5120640" y="3291840"/>
            <a:ext cx="3474720" cy="9144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538728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596128" y="33558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users to the right hospital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5120640" y="4087368"/>
            <a:ext cx="3474720" cy="9144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4334256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596128" y="415137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Nigerian health context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365760" y="4983480"/>
            <a:ext cx="84124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40E1A"/>
          </a:solidFill>
          <a:ln w="12700">
            <a:solidFill>
              <a:srgbClr val="040E1A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Alavia-AI was purpose-built to fill every one of these gaps.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828800"/>
            <a:ext cx="6400800" cy="64008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2C39A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Alavia-AI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multilingual, voice-first AI health partner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8412480" cy="548640"/>
          </a:xfrm>
          <a:prstGeom prst="rect">
            <a:avLst/>
          </a:prstGeom>
          <a:solidFill>
            <a:srgbClr val="0D4A4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0136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92808"/>
            <a:ext cx="27432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87452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191109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72768" y="18013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to Symptoms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94960" y="1801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interface in your language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2441448"/>
            <a:ext cx="8412480" cy="548640"/>
          </a:xfrm>
          <a:prstGeom prst="rect">
            <a:avLst/>
          </a:prstGeom>
          <a:solidFill>
            <a:srgbClr val="0C2A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24414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" y="2532888"/>
            <a:ext cx="27432" cy="365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51560" y="2514600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55117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72768" y="24414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Urgency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394960" y="2441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severity instantly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65760" y="3081528"/>
            <a:ext cx="8412480" cy="548640"/>
          </a:xfrm>
          <a:prstGeom prst="rect">
            <a:avLst/>
          </a:prstGeom>
          <a:solidFill>
            <a:srgbClr val="053D2E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57200" y="3081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14400" y="3172968"/>
            <a:ext cx="27432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51560" y="315468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3191256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572768" y="30815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Guidance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394960" y="3081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structured steps before hospital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365760" y="3721608"/>
            <a:ext cx="8412480" cy="548640"/>
          </a:xfrm>
          <a:prstGeom prst="rect">
            <a:avLst/>
          </a:prstGeom>
          <a:solidFill>
            <a:srgbClr val="3D28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57200" y="37216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914400" y="3813048"/>
            <a:ext cx="27432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051560" y="379476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3831336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572768" y="37216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Right Hospital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394960" y="37216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by specialty &amp; distance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365760" y="4361688"/>
            <a:ext cx="8412480" cy="548640"/>
          </a:xfrm>
          <a:prstGeom prst="rect">
            <a:avLst/>
          </a:prstGeom>
          <a:solidFill>
            <a:srgbClr val="2D10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457200" y="4361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05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14400" y="4453128"/>
            <a:ext cx="27432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51560" y="4434840"/>
            <a:ext cx="402336" cy="40233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47141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572768" y="4361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Your Data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5394960" y="43616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minimal data stored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D9488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E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Simple. Clear. 7 Steps.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9204" y="1005840"/>
            <a:ext cx="1938528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" y="10972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5087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2356" y="20574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Onboarding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2356" y="224028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Quick setup</a:t>
            </a:r>
            <a:endParaRPr lang="en-US" sz="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517904"/>
            <a:ext cx="137160" cy="1371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64892" y="1005840"/>
            <a:ext cx="1938528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56332" y="1097280"/>
            <a:ext cx="365760" cy="3657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5633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15087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38044" y="20574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Language Selection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2638044" y="224028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5 Nigerian languages</a:t>
            </a:r>
            <a:endParaRPr lang="en-US" sz="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517904"/>
            <a:ext cx="137160" cy="1371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40580" y="1005840"/>
            <a:ext cx="1938528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732020" y="1097280"/>
            <a:ext cx="365760" cy="3657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7320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50876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13732" y="20574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Describe Symptoms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4713732" y="224028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Just speak — no typing</a:t>
            </a:r>
            <a:endParaRPr lang="en-US" sz="7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1517904"/>
            <a:ext cx="137160" cy="13716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716268" y="1005840"/>
            <a:ext cx="1938528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807708" y="1097280"/>
            <a:ext cx="365760" cy="3657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807708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072" y="150876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789420" y="20574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AI Assessment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6789420" y="224028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Smart triage</a:t>
            </a:r>
            <a:endParaRPr lang="en-US" sz="750" dirty="0"/>
          </a:p>
        </p:txBody>
      </p:sp>
      <p:sp>
        <p:nvSpPr>
          <p:cNvPr id="32" name="Shape 23"/>
          <p:cNvSpPr/>
          <p:nvPr/>
        </p:nvSpPr>
        <p:spPr>
          <a:xfrm>
            <a:off x="7658100" y="2743200"/>
            <a:ext cx="54864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2496312" y="2843784"/>
            <a:ext cx="51892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2468880" y="2843784"/>
            <a:ext cx="54864" cy="100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1527048" y="2944368"/>
            <a:ext cx="1938528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1618488" y="3035808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1618488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4852" y="3447288"/>
            <a:ext cx="502920" cy="5029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600200" y="39959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First Aid Guidance</a:t>
            </a:r>
            <a:endParaRPr lang="en-US" sz="950" dirty="0"/>
          </a:p>
        </p:txBody>
      </p:sp>
      <p:sp>
        <p:nvSpPr>
          <p:cNvPr id="40" name="Text 30"/>
          <p:cNvSpPr/>
          <p:nvPr/>
        </p:nvSpPr>
        <p:spPr>
          <a:xfrm>
            <a:off x="1600200" y="417880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Immediate help</a:t>
            </a:r>
            <a:endParaRPr lang="en-US" sz="75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8436" y="3456432"/>
            <a:ext cx="137160" cy="13716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3602736" y="2944368"/>
            <a:ext cx="1938528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3694176" y="3035808"/>
            <a:ext cx="365760" cy="36576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3694176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0540" y="3447288"/>
            <a:ext cx="502920" cy="50292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3675888" y="39959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Hospital Routing</a:t>
            </a:r>
            <a:endParaRPr lang="en-US" sz="950" dirty="0"/>
          </a:p>
        </p:txBody>
      </p:sp>
      <p:sp>
        <p:nvSpPr>
          <p:cNvPr id="47" name="Text 35"/>
          <p:cNvSpPr/>
          <p:nvPr/>
        </p:nvSpPr>
        <p:spPr>
          <a:xfrm>
            <a:off x="3675888" y="417880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Nearest best-fit</a:t>
            </a:r>
            <a:endParaRPr lang="en-US" sz="75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4124" y="3456432"/>
            <a:ext cx="137160" cy="137160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5678424" y="2944368"/>
            <a:ext cx="1938528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5769864" y="3035808"/>
            <a:ext cx="365760" cy="3657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69864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6228" y="3447288"/>
            <a:ext cx="502920" cy="50292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5751576" y="39959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E3D"/>
                </a:solidFill>
              </a:rPr>
              <a:t>Summary Report</a:t>
            </a:r>
            <a:endParaRPr lang="en-US" sz="950" dirty="0"/>
          </a:p>
        </p:txBody>
      </p:sp>
      <p:sp>
        <p:nvSpPr>
          <p:cNvPr id="54" name="Text 40"/>
          <p:cNvSpPr/>
          <p:nvPr/>
        </p:nvSpPr>
        <p:spPr>
          <a:xfrm>
            <a:off x="5751576" y="4178808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Optional record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59E0B"/>
                </a:solidFill>
              </a:rPr>
              <a:t>WHAT MAKES IT UNIQUE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Reasons Alavia-AI Stands Apart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1188" y="1051560"/>
            <a:ext cx="2697480" cy="1737360"/>
          </a:xfrm>
          <a:prstGeom prst="rect">
            <a:avLst/>
          </a:prstGeom>
          <a:solidFill>
            <a:srgbClr val="0D4A42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1188" y="1051560"/>
            <a:ext cx="26974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8348" y="1252728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316736"/>
            <a:ext cx="466344" cy="466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9868" y="1252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29868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all — no typing needed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23260" y="1051560"/>
            <a:ext cx="2697480" cy="1737360"/>
          </a:xfrm>
          <a:prstGeom prst="rect">
            <a:avLst/>
          </a:prstGeom>
          <a:solidFill>
            <a:srgbClr val="0C2A4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3260" y="1051560"/>
            <a:ext cx="26974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60420" y="1252728"/>
            <a:ext cx="594360" cy="5943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28" y="1316736"/>
            <a:ext cx="466344" cy="4663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91940" y="1252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Nigerian Languages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09194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Pidgin · Yoruba · Hausa · Igbo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5332" y="1051560"/>
            <a:ext cx="2697480" cy="1737360"/>
          </a:xfrm>
          <a:prstGeom prst="rect">
            <a:avLst/>
          </a:prstGeom>
          <a:solidFill>
            <a:srgbClr val="053D2E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5332" y="1051560"/>
            <a:ext cx="26974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22492" y="1252728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16736"/>
            <a:ext cx="466344" cy="4663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54012" y="1252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Guidance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954012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help before reaching a hospital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61188" y="2990088"/>
            <a:ext cx="2697480" cy="1737360"/>
          </a:xfrm>
          <a:prstGeom prst="rect">
            <a:avLst/>
          </a:prstGeom>
          <a:solidFill>
            <a:srgbClr val="3D28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1188" y="2990088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8348" y="3191256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3255264"/>
            <a:ext cx="466344" cy="4663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29868" y="31912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229868" y="3584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specialty, not just proximity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23260" y="2990088"/>
            <a:ext cx="2697480" cy="1737360"/>
          </a:xfrm>
          <a:prstGeom prst="rect">
            <a:avLst/>
          </a:prstGeom>
          <a:solidFill>
            <a:srgbClr val="2D1050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23260" y="2990088"/>
            <a:ext cx="2697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60420" y="3191256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428" y="3255264"/>
            <a:ext cx="466344" cy="4663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91940" y="31912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091940" y="3584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data, encrypted, user-controlled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85332" y="2990088"/>
            <a:ext cx="2697480" cy="1737360"/>
          </a:xfrm>
          <a:prstGeom prst="rect">
            <a:avLst/>
          </a:prstGeom>
          <a:solidFill>
            <a:srgbClr val="3D1400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85332" y="2990088"/>
            <a:ext cx="26974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222492" y="3191256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255264"/>
            <a:ext cx="466344" cy="4663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54012" y="31912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954012" y="3584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context, real healthcare realities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38BDF8"/>
                </a:solidFill>
              </a:rPr>
              <a:t>ROUTING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Just "Nearest Hospital."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2628" y="1234440"/>
            <a:ext cx="2011680" cy="1691640"/>
          </a:xfrm>
          <a:prstGeom prst="rect">
            <a:avLst/>
          </a:prstGeom>
          <a:solidFill>
            <a:srgbClr val="7F1D1D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2628" y="1234440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141732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49961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" y="2103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Severity Level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5780" y="242316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Critical vs non-urgent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386584" y="17373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+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528316" y="1234440"/>
            <a:ext cx="2011680" cy="1691640"/>
          </a:xfrm>
          <a:prstGeom prst="rect">
            <a:avLst/>
          </a:prstGeom>
          <a:solidFill>
            <a:srgbClr val="0C2A4A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28316" y="1234440"/>
            <a:ext cx="20116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417320"/>
            <a:ext cx="594360" cy="5943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49961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01468" y="2103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Required Specialty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601468" y="242316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Matched to condition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462272" y="17373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+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4604004" y="1234440"/>
            <a:ext cx="2011680" cy="1691640"/>
          </a:xfrm>
          <a:prstGeom prst="rect">
            <a:avLst/>
          </a:prstGeom>
          <a:solidFill>
            <a:srgbClr val="053D2E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04004" y="1234440"/>
            <a:ext cx="20116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12664" y="141732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99616"/>
            <a:ext cx="429768" cy="4297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77156" y="2103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Distance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677156" y="242316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Closest qualifying facility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537960" y="17373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+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679692" y="1234440"/>
            <a:ext cx="2011680" cy="1691640"/>
          </a:xfrm>
          <a:prstGeom prst="rect">
            <a:avLst/>
          </a:prstGeom>
          <a:solidFill>
            <a:srgbClr val="3D280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79692" y="123444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88352" y="141732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499616"/>
            <a:ext cx="429768" cy="4297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52844" y="210312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Facility Capability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752844" y="242316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Equipment &amp; resources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65760" y="2834640"/>
            <a:ext cx="8412480" cy="1600200"/>
          </a:xfrm>
          <a:prstGeom prst="rect">
            <a:avLst/>
          </a:prstGeom>
          <a:solidFill>
            <a:srgbClr val="0A264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65760" y="2834640"/>
            <a:ext cx="10972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9436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14B8A6"/>
                </a:solidFill>
              </a:rPr>
              <a:t>REAL EXAMPLE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594360" y="3310128"/>
            <a:ext cx="1691640" cy="594360"/>
          </a:xfrm>
          <a:prstGeom prst="rect">
            <a:avLst/>
          </a:prstGeom>
          <a:solidFill>
            <a:srgbClr val="0C2A4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4360" y="33101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Swollen Leg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2313432" y="3310128"/>
            <a:ext cx="265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2606040" y="3310128"/>
            <a:ext cx="1691640" cy="594360"/>
          </a:xfrm>
          <a:prstGeom prst="rect">
            <a:avLst/>
          </a:prstGeom>
          <a:solidFill>
            <a:srgbClr val="3D28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606040" y="33101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AI: Kidney Risk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4325112" y="3310128"/>
            <a:ext cx="265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5"/>
          <p:cNvSpPr/>
          <p:nvPr/>
        </p:nvSpPr>
        <p:spPr>
          <a:xfrm>
            <a:off x="4617720" y="3310128"/>
            <a:ext cx="1691640" cy="594360"/>
          </a:xfrm>
          <a:prstGeom prst="rect">
            <a:avLst/>
          </a:prstGeom>
          <a:solidFill>
            <a:srgbClr val="7F1D1D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617720" y="33101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Severity: High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6336792" y="3310128"/>
            <a:ext cx="265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6629400" y="3310128"/>
            <a:ext cx="1691640" cy="594360"/>
          </a:xfrm>
          <a:prstGeom prst="rect">
            <a:avLst/>
          </a:prstGeom>
          <a:solidFill>
            <a:srgbClr val="053D2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629400" y="33101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2C39A"/>
                </a:solidFill>
              </a:rPr>
              <a:t>Nephrology Unit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59436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4A3B8"/>
                </a:solidFill>
              </a:rPr>
              <a:t>= Nearest Nephrology-capable hospital — not just the closest building.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That's Smart Routing.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108960" cy="5079492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7C3AED"/>
                </a:solidFill>
              </a:rPr>
              <a:t>DATA PROTECTION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Is a Foundation.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1554480" cy="1554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109728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4251960"/>
            <a:ext cx="25603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4320" y="4251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Directly Aligns 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Cavista Hackathon Theme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201168"/>
            <a:ext cx="5532120" cy="694944"/>
          </a:xfrm>
          <a:prstGeom prst="rect">
            <a:avLst/>
          </a:prstGeom>
          <a:solidFill>
            <a:srgbClr val="2D10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201168"/>
            <a:ext cx="91440" cy="6949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3008" y="32004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36576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59936" y="246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Stored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059936" y="54864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is absolutely necessary for health assessment.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91840" y="1005840"/>
            <a:ext cx="5532120" cy="694944"/>
          </a:xfrm>
          <a:prstGeom prst="rect">
            <a:avLst/>
          </a:prstGeom>
          <a:solidFill>
            <a:srgbClr val="0C2A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91840" y="1005840"/>
            <a:ext cx="91440" cy="6949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93008" y="1124712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117043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59936" y="1051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Personal Info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059936" y="135331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identifiers are captured or retained.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291840" y="1810512"/>
            <a:ext cx="5532120" cy="694944"/>
          </a:xfrm>
          <a:prstGeom prst="rect">
            <a:avLst/>
          </a:prstGeom>
          <a:solidFill>
            <a:srgbClr val="0D4A4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91840" y="1810512"/>
            <a:ext cx="91440" cy="6949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493008" y="1929384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97510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059936" y="18562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Communication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059936" y="215798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transit and at rest is fully encrypted.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91840" y="2615184"/>
            <a:ext cx="5532120" cy="694944"/>
          </a:xfrm>
          <a:prstGeom prst="rect">
            <a:avLst/>
          </a:prstGeom>
          <a:solidFill>
            <a:srgbClr val="3D28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91840" y="2615184"/>
            <a:ext cx="9144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493008" y="273405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016" y="277977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59936" y="26609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Control Their Data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059936" y="2962656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manage, or delete your information at any time.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291840" y="3419856"/>
            <a:ext cx="5532120" cy="694944"/>
          </a:xfrm>
          <a:prstGeom prst="rect">
            <a:avLst/>
          </a:prstGeom>
          <a:solidFill>
            <a:srgbClr val="053D2E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291840" y="3419856"/>
            <a:ext cx="91440" cy="6949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3493008" y="353872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7016" y="3584448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059936" y="3465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Permanent AI Memory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4059936" y="376732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are not retained permanently by the AI.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5029200" cy="50292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2C39A">
              <a:alpha val="7000"/>
            </a:srgbClr>
          </a:solidFill>
          <a:ln w="12700">
            <a:solidFill>
              <a:srgbClr val="02C39A">
                <a:alpha val="11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02C39A"/>
                </a:solidFill>
              </a:rPr>
              <a:t>IMPACT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Alavia-AI Can Change Lives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98348" y="1078992"/>
            <a:ext cx="2606040" cy="1737360"/>
          </a:xfrm>
          <a:prstGeom prst="rect">
            <a:avLst/>
          </a:prstGeom>
          <a:solidFill>
            <a:srgbClr val="0D4A42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8348" y="1078992"/>
            <a:ext cx="26060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4188" y="1261872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1344168"/>
            <a:ext cx="429768" cy="4297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8348" y="1947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Faster Care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9788" y="226771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Reduce delayed healthcare decisions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68980" y="1078992"/>
            <a:ext cx="2606040" cy="1737360"/>
          </a:xfrm>
          <a:prstGeom prst="rect">
            <a:avLst/>
          </a:prstGeom>
          <a:solidFill>
            <a:srgbClr val="3D28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8980" y="1078992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74820" y="126187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1344168"/>
            <a:ext cx="429768" cy="4297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68980" y="1947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Health Literacy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60420" y="226771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Improve awareness nationwide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9612" y="1078992"/>
            <a:ext cx="2606040" cy="1737360"/>
          </a:xfrm>
          <a:prstGeom prst="rect">
            <a:avLst/>
          </a:prstGeom>
          <a:solidFill>
            <a:srgbClr val="0C2A4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9612" y="1078992"/>
            <a:ext cx="260604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45452" y="1261872"/>
            <a:ext cx="594360" cy="5943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8" y="1344168"/>
            <a:ext cx="429768" cy="4297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39612" y="1947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Wider Reach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131052" y="226771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Rural &amp; elderly populations served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257300" y="2971800"/>
            <a:ext cx="3200400" cy="1737360"/>
          </a:xfrm>
          <a:prstGeom prst="rect">
            <a:avLst/>
          </a:prstGeom>
          <a:solidFill>
            <a:srgbClr val="3D140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257300" y="2971800"/>
            <a:ext cx="32004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560320" y="315468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16" y="3236976"/>
            <a:ext cx="429768" cy="4297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573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Less Crowding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348740" y="416052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Reduce hospital overcrowding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686300" y="2971800"/>
            <a:ext cx="3200400" cy="1737360"/>
          </a:xfrm>
          <a:prstGeom prst="rect">
            <a:avLst/>
          </a:prstGeom>
          <a:solidFill>
            <a:srgbClr val="053D2E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686300" y="2971800"/>
            <a:ext cx="32004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989320" y="315468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3236976"/>
            <a:ext cx="429768" cy="4297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6863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Save Lives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777740" y="416052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Prevent avoidable deaths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From first symptom to the right care — Alavia-AI bridges the gap.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F59E0B"/>
                </a:solidFill>
              </a:rPr>
              <a:t>FUTURE EXPANSION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Just the Beginning.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76656"/>
          </a:xfrm>
          <a:prstGeom prst="rect">
            <a:avLst/>
          </a:prstGeom>
          <a:solidFill>
            <a:srgbClr val="0D4A4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91440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61872"/>
            <a:ext cx="73152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17320" y="11887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23444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93392" y="1133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Hospital Capacity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993392" y="144475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bed availability &amp; wait time data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1847088"/>
            <a:ext cx="8412480" cy="676656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1847088"/>
            <a:ext cx="91440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2029968"/>
            <a:ext cx="7315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0299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2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417320" y="1956816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2002536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93392" y="19019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993392" y="22128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dispatch integration with ambulance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5760" y="2615184"/>
            <a:ext cx="8412480" cy="676656"/>
          </a:xfrm>
          <a:prstGeom prst="rect">
            <a:avLst/>
          </a:prstGeom>
          <a:solidFill>
            <a:srgbClr val="2D105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2615184"/>
            <a:ext cx="91440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6928" y="2798064"/>
            <a:ext cx="731520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27980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3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1417320" y="272491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770632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93392" y="26700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Integration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993392" y="298094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HMO &amp; NHIS-linked coverage verification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3383280"/>
            <a:ext cx="8412480" cy="676656"/>
          </a:xfrm>
          <a:prstGeom prst="rect">
            <a:avLst/>
          </a:prstGeom>
          <a:solidFill>
            <a:srgbClr val="0C2A4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65760" y="3383280"/>
            <a:ext cx="91440" cy="67665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66928" y="3566160"/>
            <a:ext cx="731520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66928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3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1417320" y="3493008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3538728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993392" y="3438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Rural Version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1993392" y="37490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app for low-connectivity zones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365760" y="4151376"/>
            <a:ext cx="8412480" cy="676656"/>
          </a:xfrm>
          <a:prstGeom prst="rect">
            <a:avLst/>
          </a:prstGeom>
          <a:solidFill>
            <a:srgbClr val="053D2E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65760" y="4151376"/>
            <a:ext cx="91440" cy="6766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66928" y="4334256"/>
            <a:ext cx="7315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66928" y="4334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40E1A"/>
                </a:solidFill>
              </a:rPr>
              <a:t>Phase 4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1417320" y="426110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4306824"/>
            <a:ext cx="329184" cy="32918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993392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Hospital Database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1993392" y="45171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Comprehensive, verified facility registry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0E1A"/>
                </a:solidFill>
              </a:rPr>
              <a:t>Alavia-AI is built to scale across Nigeria — and beyond.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71E3D"/>
          </a:solidFill>
          <a:ln w="12700">
            <a:solidFill>
              <a:srgbClr val="071E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65760"/>
            <a:ext cx="1645920" cy="1645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1762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Alavia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20040" y="29443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320040" y="3840480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931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Voice. Language. Care. Delivered.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2C39A">
              <a:alpha val="8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77840" y="457200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457200"/>
            <a:ext cx="9144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45720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4572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Interaction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77840" y="1207008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1207008"/>
            <a:ext cx="9144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0" y="1207008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80760" y="1207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Nigerian Languages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577840" y="1956816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1956816"/>
            <a:ext cx="91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1956816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80760" y="1956816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Aid + Smart Routing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577840" y="2706624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77840" y="2706624"/>
            <a:ext cx="9144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15000" y="2706624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80760" y="27066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77840" y="3456432"/>
            <a:ext cx="3200400" cy="594360"/>
          </a:xfrm>
          <a:prstGeom prst="rect">
            <a:avLst/>
          </a:prstGeom>
          <a:solidFill>
            <a:srgbClr val="0A264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577840" y="3456432"/>
            <a:ext cx="9144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15000" y="3456432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080760" y="345643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Nigeria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577840" y="4315968"/>
            <a:ext cx="14630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577840" y="4315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Nibble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78040" y="4315968"/>
            <a:ext cx="1645920" cy="457200"/>
          </a:xfrm>
          <a:prstGeom prst="rect">
            <a:avLst/>
          </a:prstGeom>
          <a:solidFill>
            <a:srgbClr val="0D2F5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78040" y="4315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Cavista 2026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  —  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Alavia-AI – Multilingual Voice-First AI Health Partner</dc:title>
  <dc:subject>PptxGenJS Presentation</dc:subject>
  <dc:creator>Team Nibble</dc:creator>
  <cp:lastModifiedBy>Team Nibble</cp:lastModifiedBy>
  <cp:revision>1</cp:revision>
  <dcterms:created xsi:type="dcterms:W3CDTF">2026-02-21T15:30:56Z</dcterms:created>
  <dcterms:modified xsi:type="dcterms:W3CDTF">2026-02-21T15:30:56Z</dcterms:modified>
</cp:coreProperties>
</file>