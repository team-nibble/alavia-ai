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71E3D"/>
          </a:solidFill>
          <a:ln w="12700">
            <a:solidFill>
              <a:srgbClr val="071E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310896"/>
            <a:ext cx="2697480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31089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80" kern="0" dirty="0">
                <a:solidFill>
                  <a:srgbClr val="FFFFFF"/>
                </a:solidFill>
              </a:rPr>
              <a:t>CAVISTA HACKATHON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841248"/>
            <a:ext cx="4754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Alavia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347472" y="1792224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347472" y="279806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· Voice-First · AI Health Partner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3255264"/>
            <a:ext cx="283464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33649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Nigeria. Built for Lives.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937760" y="-822960"/>
            <a:ext cx="5486400" cy="5486400"/>
          </a:xfrm>
          <a:prstGeom prst="ellipse">
            <a:avLst/>
          </a:prstGeom>
          <a:solidFill>
            <a:srgbClr val="0D9488">
              <a:alpha val="9000"/>
            </a:srgbClr>
          </a:solidFill>
          <a:ln w="12700">
            <a:solidFill>
              <a:srgbClr val="0D9488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182880"/>
            <a:ext cx="3657600" cy="3657600"/>
          </a:xfrm>
          <a:prstGeom prst="ellipse">
            <a:avLst/>
          </a:prstGeom>
          <a:solidFill>
            <a:srgbClr val="14B8A6">
              <a:alpha val="17000"/>
            </a:srgbClr>
          </a:solidFill>
          <a:ln w="12700">
            <a:solidFill>
              <a:srgbClr val="14B8A6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749808"/>
            <a:ext cx="2468880" cy="2468880"/>
          </a:xfrm>
          <a:prstGeom prst="ellips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3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877824"/>
            <a:ext cx="2194560" cy="219456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14B8A6">
                <a:alpha val="4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08192" y="493776"/>
            <a:ext cx="2962656" cy="2962656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14B8A6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1042416"/>
            <a:ext cx="1645920" cy="1645920"/>
          </a:xfrm>
          <a:prstGeom prst="ellipse">
            <a:avLst/>
          </a:prstGeom>
          <a:solidFill>
            <a:srgbClr val="0D9488"/>
          </a:solidFill>
          <a:ln w="381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08" y="1335024"/>
            <a:ext cx="1060704" cy="1060704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138160" y="98755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0" y="987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+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943600" y="3035808"/>
            <a:ext cx="2834640" cy="384048"/>
          </a:xfrm>
          <a:prstGeom prst="rect">
            <a:avLst/>
          </a:prstGeom>
          <a:solidFill>
            <a:srgbClr val="0D3D3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0" y="3035808"/>
            <a:ext cx="7315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08192" y="303580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</a:rPr>
              <a:t>Voice-First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943600" y="3538728"/>
            <a:ext cx="2834640" cy="384048"/>
          </a:xfrm>
          <a:prstGeom prst="rect">
            <a:avLst/>
          </a:prstGeom>
          <a:solidFill>
            <a:srgbClr val="0C24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943600" y="3538728"/>
            <a:ext cx="73152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08192" y="353872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5 Languages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943600" y="4041648"/>
            <a:ext cx="2834640" cy="384048"/>
          </a:xfrm>
          <a:prstGeom prst="rect">
            <a:avLst/>
          </a:prstGeom>
          <a:solidFill>
            <a:srgbClr val="2E1E0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943600" y="4041648"/>
            <a:ext cx="7315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08192" y="404164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Smart Routing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solidFill>
            <a:srgbClr val="0D2F52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B8A6"/>
                </a:solidFill>
              </a:rPr>
              <a:t>Alavia-AI  ·  Team Nibble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4206240" cy="5079492"/>
          </a:xfrm>
          <a:prstGeom prst="rect">
            <a:avLst/>
          </a:prstGeom>
          <a:solidFill>
            <a:srgbClr val="071E3D"/>
          </a:solidFill>
          <a:ln w="12700">
            <a:solidFill>
              <a:srgbClr val="07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19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EF4444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66928"/>
            <a:ext cx="3200400" cy="3200400"/>
          </a:xfrm>
          <a:prstGeom prst="ellipse">
            <a:avLst/>
          </a:prstGeom>
          <a:solidFill>
            <a:srgbClr val="1A0505"/>
          </a:solidFill>
          <a:ln w="254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932688"/>
            <a:ext cx="2468880" cy="2468880"/>
          </a:xfrm>
          <a:prstGeom prst="ellipse">
            <a:avLst/>
          </a:prstGeom>
          <a:solidFill>
            <a:srgbClr val="220808"/>
          </a:solidFill>
          <a:ln w="25400">
            <a:solidFill>
              <a:srgbClr val="EF4444">
                <a:alpha val="7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344168"/>
            <a:ext cx="1645920" cy="1645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636776"/>
            <a:ext cx="1060704" cy="10607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6032" y="340156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Ignored.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56032" y="38404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Misunderstood.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56032" y="42793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Fatal.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4434840" y="256032"/>
            <a:ext cx="4434840" cy="658368"/>
          </a:xfrm>
          <a:prstGeom prst="rect">
            <a:avLst/>
          </a:prstGeom>
          <a:solidFill>
            <a:srgbClr val="3D1A0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35661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40233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38928" y="25603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ignore early symptoms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434840" y="1005840"/>
            <a:ext cx="4434840" cy="658368"/>
          </a:xfrm>
          <a:prstGeom prst="rect">
            <a:avLst/>
          </a:prstGeom>
          <a:solidFill>
            <a:srgbClr val="0C1E3D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0" y="1106424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15214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38928" y="100584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 reduce health literacy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434840" y="1755648"/>
            <a:ext cx="4434840" cy="658368"/>
          </a:xfrm>
          <a:prstGeom prst="rect">
            <a:avLst/>
          </a:prstGeom>
          <a:solidFill>
            <a:srgbClr val="1E0A3D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0" y="1856232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1901952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38928" y="175564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on informal advice &amp; self-medication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34840" y="2505456"/>
            <a:ext cx="4434840" cy="658368"/>
          </a:xfrm>
          <a:prstGeom prst="rect">
            <a:avLst/>
          </a:prstGeom>
          <a:solidFill>
            <a:srgbClr val="3D0A0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2606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265176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38928" y="250545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are overcrowded &amp; under-resourced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434840" y="3255264"/>
            <a:ext cx="4434840" cy="658368"/>
          </a:xfrm>
          <a:prstGeom prst="rect">
            <a:avLst/>
          </a:prstGeom>
          <a:solidFill>
            <a:srgbClr val="013D2E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572000" y="3355848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008" y="3401568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138928" y="325526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pre-hospital guidance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4434840" y="4059936"/>
            <a:ext cx="443484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4434840" y="4059936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Result: Delays in care  →  Preventable deaths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solidFill>
            <a:srgbClr val="0D2F52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B8A6"/>
                </a:solidFill>
              </a:rPr>
              <a:t>Alavia-AI  ·  Team Nibble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14B8A6"/>
                </a:solidFill>
              </a:rPr>
              <a:t>THE GAP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Exists vs. What's Missing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3840480" cy="3749040"/>
          </a:xfrm>
          <a:prstGeom prst="rect">
            <a:avLst/>
          </a:prstGeom>
          <a:solidFill>
            <a:srgbClr val="040E1A"/>
          </a:solidFill>
          <a:ln w="9525">
            <a:solidFill>
              <a:srgbClr val="4A556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3840480" cy="47548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Existing Solutions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4767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7647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 chatbots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432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health apps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3872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3558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systems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334256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415137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routing intelligence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325112" y="246888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325112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✕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4937760" y="1170432"/>
            <a:ext cx="3840480" cy="3749040"/>
          </a:xfrm>
          <a:prstGeom prst="rect">
            <a:avLst/>
          </a:prstGeom>
          <a:solidFill>
            <a:srgbClr val="1A0A0A"/>
          </a:solidFill>
          <a:ln w="9525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937760" y="1170432"/>
            <a:ext cx="384048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937760" y="11704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They Do NOT…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94767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596128" y="17647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local Nigerian languages</a:t>
            </a:r>
            <a:endParaRPr lang="en-US" sz="12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2743200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596128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structured first aid</a:t>
            </a:r>
            <a:endParaRPr lang="en-US" sz="12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3538728"/>
            <a:ext cx="365760" cy="3657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596128" y="33558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users to the right hospital</a:t>
            </a:r>
            <a:endParaRPr lang="en-US" sz="12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4334256"/>
            <a:ext cx="365760" cy="36576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596128" y="415137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Nigerian health context</a:t>
            </a:r>
            <a:endParaRPr lang="en-US" sz="1250" dirty="0"/>
          </a:p>
        </p:txBody>
      </p:sp>
      <p:sp>
        <p:nvSpPr>
          <p:cNvPr id="29" name="Shape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40E1A"/>
          </a:solidFill>
          <a:ln w="12700">
            <a:solidFill>
              <a:srgbClr val="040E1A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Alavia-AI was purpose-built to fill every one of these gaps.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solidFill>
            <a:srgbClr val="0D2F52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B8A6"/>
                </a:solidFill>
              </a:rPr>
              <a:t>Alavia-AI  ·  Team Nibble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2011680"/>
            <a:ext cx="6583680" cy="658368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2C39A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Alavia-AI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multilingual, voice-first AI health partner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5623560" cy="448056"/>
          </a:xfrm>
          <a:prstGeom prst="rect">
            <a:avLst/>
          </a:prstGeom>
          <a:solidFill>
            <a:srgbClr val="0D3D3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54480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627632"/>
            <a:ext cx="27432" cy="3017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1609344"/>
            <a:ext cx="338328" cy="3383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636776"/>
            <a:ext cx="246888" cy="2468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1554480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to Symptoms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169664" y="1554480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Voice-first, your language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2075688"/>
            <a:ext cx="5623560" cy="448056"/>
          </a:xfrm>
          <a:prstGeom prst="rect">
            <a:avLst/>
          </a:prstGeom>
          <a:solidFill>
            <a:srgbClr val="0C24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2075688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68680" y="2148840"/>
            <a:ext cx="27432" cy="3017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7552" y="2130552"/>
            <a:ext cx="338328" cy="3383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157984"/>
            <a:ext cx="246888" cy="2468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17320" y="2075688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Urgency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169664" y="2075688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severity instantly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65760" y="2596896"/>
            <a:ext cx="5623560" cy="448056"/>
          </a:xfrm>
          <a:prstGeom prst="rect">
            <a:avLst/>
          </a:prstGeom>
          <a:solidFill>
            <a:srgbClr val="05302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457200" y="2596896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03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68680" y="2670048"/>
            <a:ext cx="27432" cy="3017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87552" y="2651760"/>
            <a:ext cx="338328" cy="3383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679192"/>
            <a:ext cx="246888" cy="2468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417320" y="2596896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Guidance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169664" y="2596896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steps before hospital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65760" y="3118104"/>
            <a:ext cx="5623560" cy="448056"/>
          </a:xfrm>
          <a:prstGeom prst="rect">
            <a:avLst/>
          </a:prstGeom>
          <a:solidFill>
            <a:srgbClr val="2E1E0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457200" y="3118104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04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868680" y="3191256"/>
            <a:ext cx="27432" cy="301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987552" y="3172968"/>
            <a:ext cx="338328" cy="3383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200400"/>
            <a:ext cx="246888" cy="24688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417320" y="3118104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Right Hospital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4169664" y="3118104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specialty &amp; distance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365760" y="3639312"/>
            <a:ext cx="5623560" cy="448056"/>
          </a:xfrm>
          <a:prstGeom prst="rect">
            <a:avLst/>
          </a:prstGeom>
          <a:solidFill>
            <a:srgbClr val="220D4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457200" y="3639312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05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868680" y="3712464"/>
            <a:ext cx="27432" cy="3017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987552" y="3694176"/>
            <a:ext cx="338328" cy="3383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3721608"/>
            <a:ext cx="246888" cy="24688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417320" y="3639312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Your Data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4169664" y="3639312"/>
            <a:ext cx="17190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Privacy-first, minimal data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6172200" y="1554480"/>
            <a:ext cx="2651760" cy="3090672"/>
          </a:xfrm>
          <a:prstGeom prst="rect">
            <a:avLst/>
          </a:prstGeom>
          <a:solidFill>
            <a:srgbClr val="0A264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6172200" y="1554480"/>
            <a:ext cx="265176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6172200" y="15544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40E1A"/>
                </a:solidFill>
              </a:rPr>
              <a:t>TECH STACK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6309360" y="2093976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121408"/>
            <a:ext cx="219456" cy="219456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6711696" y="202996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</a:t>
            </a:r>
            <a:endParaRPr lang="en-US" sz="1050" dirty="0"/>
          </a:p>
        </p:txBody>
      </p:sp>
      <p:sp>
        <p:nvSpPr>
          <p:cNvPr id="48" name="Text 40"/>
          <p:cNvSpPr/>
          <p:nvPr/>
        </p:nvSpPr>
        <p:spPr>
          <a:xfrm>
            <a:off x="6711696" y="22768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(STT)</a:t>
            </a:r>
            <a:endParaRPr lang="en-US" sz="850" dirty="0"/>
          </a:p>
        </p:txBody>
      </p:sp>
      <p:sp>
        <p:nvSpPr>
          <p:cNvPr id="49" name="Shape 41"/>
          <p:cNvSpPr/>
          <p:nvPr/>
        </p:nvSpPr>
        <p:spPr>
          <a:xfrm>
            <a:off x="6309360" y="2615184"/>
            <a:ext cx="310896" cy="3108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2642616"/>
            <a:ext cx="219456" cy="219456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711696" y="255117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/ Claude</a:t>
            </a:r>
            <a:endParaRPr lang="en-US" sz="1050" dirty="0"/>
          </a:p>
        </p:txBody>
      </p:sp>
      <p:sp>
        <p:nvSpPr>
          <p:cNvPr id="52" name="Text 43"/>
          <p:cNvSpPr/>
          <p:nvPr/>
        </p:nvSpPr>
        <p:spPr>
          <a:xfrm>
            <a:off x="6711696" y="27980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Engine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6309360" y="3136392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163824"/>
            <a:ext cx="219456" cy="219456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6711696" y="307238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/ Laravel</a:t>
            </a:r>
            <a:endParaRPr lang="en-US" sz="1050" dirty="0"/>
          </a:p>
        </p:txBody>
      </p:sp>
      <p:sp>
        <p:nvSpPr>
          <p:cNvPr id="56" name="Text 46"/>
          <p:cNvSpPr/>
          <p:nvPr/>
        </p:nvSpPr>
        <p:spPr>
          <a:xfrm>
            <a:off x="6711696" y="33192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850" dirty="0"/>
          </a:p>
        </p:txBody>
      </p:sp>
      <p:sp>
        <p:nvSpPr>
          <p:cNvPr id="57" name="Shape 47"/>
          <p:cNvSpPr/>
          <p:nvPr/>
        </p:nvSpPr>
        <p:spPr>
          <a:xfrm>
            <a:off x="6309360" y="3657600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3685032"/>
            <a:ext cx="219456" cy="219456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6711696" y="359359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60" name="Text 49"/>
          <p:cNvSpPr/>
          <p:nvPr/>
        </p:nvSpPr>
        <p:spPr>
          <a:xfrm>
            <a:off x="6711696" y="3840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Store</a:t>
            </a:r>
            <a:endParaRPr lang="en-US" sz="850" dirty="0"/>
          </a:p>
        </p:txBody>
      </p:sp>
      <p:sp>
        <p:nvSpPr>
          <p:cNvPr id="61" name="Shape 50"/>
          <p:cNvSpPr/>
          <p:nvPr/>
        </p:nvSpPr>
        <p:spPr>
          <a:xfrm>
            <a:off x="6309360" y="4178808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4206240"/>
            <a:ext cx="219456" cy="219456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6711696" y="411480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050" dirty="0"/>
          </a:p>
        </p:txBody>
      </p:sp>
      <p:sp>
        <p:nvSpPr>
          <p:cNvPr id="64" name="Text 52"/>
          <p:cNvSpPr/>
          <p:nvPr/>
        </p:nvSpPr>
        <p:spPr>
          <a:xfrm>
            <a:off x="6711696" y="4361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Layer</a:t>
            </a:r>
            <a:endParaRPr lang="en-US" sz="850" dirty="0"/>
          </a:p>
        </p:txBody>
      </p:sp>
      <p:sp>
        <p:nvSpPr>
          <p:cNvPr id="65" name="Shape 53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solidFill>
            <a:srgbClr val="0D2F52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66" name="Text 54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B8A6"/>
                </a:solidFill>
              </a:rPr>
              <a:t>Alavia-AI  ·  Team Nibble</a:t>
            </a:r>
            <a:endParaRPr lang="en-US" sz="750" dirty="0"/>
          </a:p>
        </p:txBody>
      </p:sp>
      <p:sp>
        <p:nvSpPr>
          <p:cNvPr id="67" name="Text 55"/>
          <p:cNvSpPr/>
          <p:nvPr/>
        </p:nvSpPr>
        <p:spPr>
          <a:xfrm>
            <a:off x="164592" y="4992624"/>
            <a:ext cx="8814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Alavia-AI provides triage guidance and is not a substitute for professional clinical diagnosis.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D9488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Simple. Clear. 7 Steps.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1572768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29844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English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08" y="960120"/>
            <a:ext cx="1572768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21408" y="129844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Pidgin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960120"/>
            <a:ext cx="1572768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85616" y="129844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Yoruba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824" y="960120"/>
            <a:ext cx="1572768" cy="3108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49824" y="129844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Hausa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960120"/>
            <a:ext cx="1572768" cy="31089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114032" y="129844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</a:rPr>
              <a:t>Igbo</a:t>
            </a:r>
            <a:endParaRPr lang="en-US" sz="850" dirty="0"/>
          </a:p>
        </p:txBody>
      </p:sp>
      <p:sp>
        <p:nvSpPr>
          <p:cNvPr id="15" name="Shape 8"/>
          <p:cNvSpPr/>
          <p:nvPr/>
        </p:nvSpPr>
        <p:spPr>
          <a:xfrm>
            <a:off x="489204" y="1481328"/>
            <a:ext cx="1938528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580644" y="157276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80644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008" y="1993392"/>
            <a:ext cx="502920" cy="5029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62356" y="2560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E3D"/>
                </a:solidFill>
              </a:rPr>
              <a:t>Onboarding</a:t>
            </a:r>
            <a:endParaRPr lang="en-US" sz="950" dirty="0"/>
          </a:p>
        </p:txBody>
      </p:sp>
      <p:sp>
        <p:nvSpPr>
          <p:cNvPr id="20" name="Text 12"/>
          <p:cNvSpPr/>
          <p:nvPr/>
        </p:nvSpPr>
        <p:spPr>
          <a:xfrm>
            <a:off x="562356" y="280720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Quick setup</a:t>
            </a:r>
            <a:endParaRPr lang="en-US" sz="7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1448" y="2148840"/>
            <a:ext cx="128016" cy="128016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2564892" y="1481328"/>
            <a:ext cx="1938528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23" name="Shape 14"/>
          <p:cNvSpPr/>
          <p:nvPr/>
        </p:nvSpPr>
        <p:spPr>
          <a:xfrm>
            <a:off x="2656332" y="1572768"/>
            <a:ext cx="365760" cy="3657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2656332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2696" y="1993392"/>
            <a:ext cx="502920" cy="50292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2638044" y="2560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E3D"/>
                </a:solidFill>
              </a:rPr>
              <a:t>Language Select</a:t>
            </a:r>
            <a:endParaRPr lang="en-US" sz="950" dirty="0"/>
          </a:p>
        </p:txBody>
      </p:sp>
      <p:sp>
        <p:nvSpPr>
          <p:cNvPr id="27" name="Text 17"/>
          <p:cNvSpPr/>
          <p:nvPr/>
        </p:nvSpPr>
        <p:spPr>
          <a:xfrm>
            <a:off x="2638044" y="280720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5 languages</a:t>
            </a:r>
            <a:endParaRPr lang="en-US" sz="7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7136" y="2148840"/>
            <a:ext cx="128016" cy="128016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4640580" y="1481328"/>
            <a:ext cx="1938528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30" name="Shape 19"/>
          <p:cNvSpPr/>
          <p:nvPr/>
        </p:nvSpPr>
        <p:spPr>
          <a:xfrm>
            <a:off x="4732020" y="1572768"/>
            <a:ext cx="365760" cy="3657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1" name="Text 20"/>
          <p:cNvSpPr/>
          <p:nvPr/>
        </p:nvSpPr>
        <p:spPr>
          <a:xfrm>
            <a:off x="473202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8384" y="1993392"/>
            <a:ext cx="502920" cy="50292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713732" y="2560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E3D"/>
                </a:solidFill>
              </a:rPr>
              <a:t>Describe Symptoms</a:t>
            </a:r>
            <a:endParaRPr lang="en-US" sz="950" dirty="0"/>
          </a:p>
        </p:txBody>
      </p:sp>
      <p:sp>
        <p:nvSpPr>
          <p:cNvPr id="34" name="Text 22"/>
          <p:cNvSpPr/>
          <p:nvPr/>
        </p:nvSpPr>
        <p:spPr>
          <a:xfrm>
            <a:off x="4713732" y="280720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Just speak</a:t>
            </a:r>
            <a:endParaRPr lang="en-US" sz="75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2824" y="2148840"/>
            <a:ext cx="128016" cy="128016"/>
          </a:xfrm>
          <a:prstGeom prst="rect">
            <a:avLst/>
          </a:prstGeom>
        </p:spPr>
      </p:pic>
      <p:sp>
        <p:nvSpPr>
          <p:cNvPr id="36" name="Shape 23"/>
          <p:cNvSpPr/>
          <p:nvPr/>
        </p:nvSpPr>
        <p:spPr>
          <a:xfrm>
            <a:off x="6716268" y="1481328"/>
            <a:ext cx="1938528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37" name="Shape 24"/>
          <p:cNvSpPr/>
          <p:nvPr/>
        </p:nvSpPr>
        <p:spPr>
          <a:xfrm>
            <a:off x="6807708" y="1572768"/>
            <a:ext cx="365760" cy="3657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25"/>
          <p:cNvSpPr/>
          <p:nvPr/>
        </p:nvSpPr>
        <p:spPr>
          <a:xfrm>
            <a:off x="680770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34072" y="1993392"/>
            <a:ext cx="502920" cy="50292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789420" y="256032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E3D"/>
                </a:solidFill>
              </a:rPr>
              <a:t>AI Assessment</a:t>
            </a:r>
            <a:endParaRPr lang="en-US" sz="950" dirty="0"/>
          </a:p>
        </p:txBody>
      </p:sp>
      <p:sp>
        <p:nvSpPr>
          <p:cNvPr id="41" name="Text 27"/>
          <p:cNvSpPr/>
          <p:nvPr/>
        </p:nvSpPr>
        <p:spPr>
          <a:xfrm>
            <a:off x="6789420" y="280720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Smart triage</a:t>
            </a:r>
            <a:endParaRPr lang="en-US" sz="750" dirty="0"/>
          </a:p>
        </p:txBody>
      </p:sp>
      <p:sp>
        <p:nvSpPr>
          <p:cNvPr id="42" name="Shape 28"/>
          <p:cNvSpPr/>
          <p:nvPr/>
        </p:nvSpPr>
        <p:spPr>
          <a:xfrm>
            <a:off x="7658100" y="3081528"/>
            <a:ext cx="54864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Shape 29"/>
          <p:cNvSpPr/>
          <p:nvPr/>
        </p:nvSpPr>
        <p:spPr>
          <a:xfrm>
            <a:off x="2496312" y="3150108"/>
            <a:ext cx="51892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30"/>
          <p:cNvSpPr/>
          <p:nvPr/>
        </p:nvSpPr>
        <p:spPr>
          <a:xfrm>
            <a:off x="2468880" y="3150108"/>
            <a:ext cx="54864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Shape 31"/>
          <p:cNvSpPr/>
          <p:nvPr/>
        </p:nvSpPr>
        <p:spPr>
          <a:xfrm>
            <a:off x="1527048" y="3218688"/>
            <a:ext cx="1938528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46" name="Shape 32"/>
          <p:cNvSpPr/>
          <p:nvPr/>
        </p:nvSpPr>
        <p:spPr>
          <a:xfrm>
            <a:off x="1618488" y="3310128"/>
            <a:ext cx="365760" cy="36576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7" name="Text 33"/>
          <p:cNvSpPr/>
          <p:nvPr/>
        </p:nvSpPr>
        <p:spPr>
          <a:xfrm>
            <a:off x="1618488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44852" y="3730752"/>
            <a:ext cx="502920" cy="502920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1600200" y="429768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E3D"/>
                </a:solidFill>
              </a:rPr>
              <a:t>First Aid</a:t>
            </a:r>
            <a:endParaRPr lang="en-US" sz="950" dirty="0"/>
          </a:p>
        </p:txBody>
      </p:sp>
      <p:sp>
        <p:nvSpPr>
          <p:cNvPr id="50" name="Text 35"/>
          <p:cNvSpPr/>
          <p:nvPr/>
        </p:nvSpPr>
        <p:spPr>
          <a:xfrm>
            <a:off x="1600200" y="454456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Immediate help</a:t>
            </a:r>
            <a:endParaRPr lang="en-US" sz="750" dirty="0"/>
          </a:p>
        </p:txBody>
      </p:sp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9292" y="3886200"/>
            <a:ext cx="128016" cy="128016"/>
          </a:xfrm>
          <a:prstGeom prst="rect">
            <a:avLst/>
          </a:prstGeom>
        </p:spPr>
      </p:pic>
      <p:sp>
        <p:nvSpPr>
          <p:cNvPr id="52" name="Shape 36"/>
          <p:cNvSpPr/>
          <p:nvPr/>
        </p:nvSpPr>
        <p:spPr>
          <a:xfrm>
            <a:off x="3602736" y="3218688"/>
            <a:ext cx="1938528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53" name="Shape 37"/>
          <p:cNvSpPr/>
          <p:nvPr/>
        </p:nvSpPr>
        <p:spPr>
          <a:xfrm>
            <a:off x="3694176" y="3310128"/>
            <a:ext cx="365760" cy="36576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4" name="Text 38"/>
          <p:cNvSpPr/>
          <p:nvPr/>
        </p:nvSpPr>
        <p:spPr>
          <a:xfrm>
            <a:off x="3694176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pic>
        <p:nvPicPr>
          <p:cNvPr id="5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20540" y="3730752"/>
            <a:ext cx="502920" cy="502920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3675888" y="429768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E3D"/>
                </a:solidFill>
              </a:rPr>
              <a:t>Hospital Routing</a:t>
            </a:r>
            <a:endParaRPr lang="en-US" sz="950" dirty="0"/>
          </a:p>
        </p:txBody>
      </p:sp>
      <p:sp>
        <p:nvSpPr>
          <p:cNvPr id="57" name="Text 40"/>
          <p:cNvSpPr/>
          <p:nvPr/>
        </p:nvSpPr>
        <p:spPr>
          <a:xfrm>
            <a:off x="3675888" y="454456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Nearest best-fit</a:t>
            </a:r>
            <a:endParaRPr lang="en-US" sz="750" dirty="0"/>
          </a:p>
        </p:txBody>
      </p:sp>
      <p:pic>
        <p:nvPicPr>
          <p:cNvPr id="5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54980" y="3886200"/>
            <a:ext cx="128016" cy="128016"/>
          </a:xfrm>
          <a:prstGeom prst="rect">
            <a:avLst/>
          </a:prstGeom>
        </p:spPr>
      </p:pic>
      <p:sp>
        <p:nvSpPr>
          <p:cNvPr id="59" name="Shape 41"/>
          <p:cNvSpPr/>
          <p:nvPr/>
        </p:nvSpPr>
        <p:spPr>
          <a:xfrm>
            <a:off x="5678424" y="3218688"/>
            <a:ext cx="1938528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60" name="Shape 42"/>
          <p:cNvSpPr/>
          <p:nvPr/>
        </p:nvSpPr>
        <p:spPr>
          <a:xfrm>
            <a:off x="5769864" y="3310128"/>
            <a:ext cx="365760" cy="3657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1" name="Text 43"/>
          <p:cNvSpPr/>
          <p:nvPr/>
        </p:nvSpPr>
        <p:spPr>
          <a:xfrm>
            <a:off x="5769864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6228" y="3730752"/>
            <a:ext cx="502920" cy="502920"/>
          </a:xfrm>
          <a:prstGeom prst="rect">
            <a:avLst/>
          </a:prstGeom>
        </p:spPr>
      </p:pic>
      <p:sp>
        <p:nvSpPr>
          <p:cNvPr id="63" name="Text 44"/>
          <p:cNvSpPr/>
          <p:nvPr/>
        </p:nvSpPr>
        <p:spPr>
          <a:xfrm>
            <a:off x="5751576" y="429768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E3D"/>
                </a:solidFill>
              </a:rPr>
              <a:t>Summary Report</a:t>
            </a:r>
            <a:endParaRPr lang="en-US" sz="950" dirty="0"/>
          </a:p>
        </p:txBody>
      </p:sp>
      <p:sp>
        <p:nvSpPr>
          <p:cNvPr id="64" name="Text 45"/>
          <p:cNvSpPr/>
          <p:nvPr/>
        </p:nvSpPr>
        <p:spPr>
          <a:xfrm>
            <a:off x="5751576" y="454456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Optional record</a:t>
            </a:r>
            <a:endParaRPr lang="en-US" sz="750" dirty="0"/>
          </a:p>
        </p:txBody>
      </p:sp>
      <p:sp>
        <p:nvSpPr>
          <p:cNvPr id="65" name="Shape 46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solidFill>
            <a:srgbClr val="0D2F52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66" name="Text 47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B8A6"/>
                </a:solidFill>
              </a:rPr>
              <a:t>Alavia-AI  ·  Team Nibble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F59E0B"/>
                </a:solidFill>
              </a:rPr>
              <a:t>WHAT MAKES IT UNIQUE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Reasons Alavia-AI Stands Apart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1188" y="1115568"/>
            <a:ext cx="2697480" cy="1737360"/>
          </a:xfrm>
          <a:prstGeom prst="rect">
            <a:avLst/>
          </a:prstGeom>
          <a:solidFill>
            <a:srgbClr val="0D3D36"/>
          </a:solidFill>
          <a:ln w="1524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1188" y="1115568"/>
            <a:ext cx="269748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8348" y="1316736"/>
            <a:ext cx="594360" cy="5943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380744"/>
            <a:ext cx="466344" cy="4663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9868" y="13167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29868" y="1737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all — no typing needed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23260" y="1115568"/>
            <a:ext cx="2697480" cy="1737360"/>
          </a:xfrm>
          <a:prstGeom prst="rect">
            <a:avLst/>
          </a:prstGeom>
          <a:solidFill>
            <a:srgbClr val="0C2440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23260" y="1115568"/>
            <a:ext cx="26974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60420" y="1316736"/>
            <a:ext cx="594360" cy="5943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428" y="1380744"/>
            <a:ext cx="466344" cy="4663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91940" y="13167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Nigerian Languages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091940" y="1737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· Pidgin · Yoruba · Hausa · Igbo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85332" y="1115568"/>
            <a:ext cx="2697480" cy="1737360"/>
          </a:xfrm>
          <a:prstGeom prst="rect">
            <a:avLst/>
          </a:prstGeom>
          <a:solidFill>
            <a:srgbClr val="053020"/>
          </a:solidFill>
          <a:ln w="1524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5332" y="1115568"/>
            <a:ext cx="26974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22492" y="1316736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380744"/>
            <a:ext cx="466344" cy="4663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54012" y="13167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Guidance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954012" y="1737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help before reaching hospital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61188" y="3054096"/>
            <a:ext cx="2697480" cy="1737360"/>
          </a:xfrm>
          <a:prstGeom prst="rect">
            <a:avLst/>
          </a:prstGeom>
          <a:solidFill>
            <a:srgbClr val="2E1E0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61188" y="3054096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8348" y="3255264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" y="3319272"/>
            <a:ext cx="466344" cy="4663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29868" y="32552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Routing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229868" y="36758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specialty, not just proximity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223260" y="3054096"/>
            <a:ext cx="2697480" cy="1737360"/>
          </a:xfrm>
          <a:prstGeom prst="rect">
            <a:avLst/>
          </a:prstGeom>
          <a:solidFill>
            <a:srgbClr val="220D40"/>
          </a:solidFill>
          <a:ln w="1524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23260" y="3054096"/>
            <a:ext cx="26974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360420" y="3255264"/>
            <a:ext cx="594360" cy="5943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4428" y="3319272"/>
            <a:ext cx="466344" cy="4663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91940" y="32552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091940" y="36758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data, encrypted, user-controlled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085332" y="3054096"/>
            <a:ext cx="2697480" cy="1737360"/>
          </a:xfrm>
          <a:prstGeom prst="rect">
            <a:avLst/>
          </a:prstGeom>
          <a:solidFill>
            <a:srgbClr val="2E1200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085332" y="3054096"/>
            <a:ext cx="26974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222492" y="3255264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319272"/>
            <a:ext cx="466344" cy="46634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54012" y="32552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Nigeria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954012" y="36758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context, real healthcare realities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solidFill>
            <a:srgbClr val="0D2F52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B8A6"/>
                </a:solidFill>
              </a:rPr>
              <a:t>Alavia-AI  ·  Team Nibble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38BDF8"/>
                </a:solidFill>
              </a:rPr>
              <a:t>ROUTING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Just "Nearest Hospital."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3977640" cy="3566160"/>
          </a:xfrm>
          <a:prstGeom prst="rect">
            <a:avLst/>
          </a:prstGeom>
          <a:solidFill>
            <a:srgbClr val="1A0808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97280"/>
            <a:ext cx="39776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97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✕  Generic Search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932688" cy="557784"/>
          </a:xfrm>
          <a:prstGeom prst="rect">
            <a:avLst/>
          </a:prstGeom>
          <a:solidFill>
            <a:srgbClr val="220C0C"/>
          </a:solidFill>
          <a:ln w="6350">
            <a:solidFill>
              <a:srgbClr val="3D101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53312" y="1682496"/>
            <a:ext cx="932688" cy="557784"/>
          </a:xfrm>
          <a:prstGeom prst="rect">
            <a:avLst/>
          </a:prstGeom>
          <a:solidFill>
            <a:srgbClr val="220C0C"/>
          </a:solidFill>
          <a:ln w="6350">
            <a:solidFill>
              <a:srgbClr val="3D101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22576" y="1682496"/>
            <a:ext cx="932688" cy="557784"/>
          </a:xfrm>
          <a:prstGeom prst="rect">
            <a:avLst/>
          </a:prstGeom>
          <a:solidFill>
            <a:srgbClr val="220C0C"/>
          </a:solidFill>
          <a:ln w="6350">
            <a:solidFill>
              <a:srgbClr val="3D101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276856"/>
            <a:ext cx="932688" cy="557784"/>
          </a:xfrm>
          <a:prstGeom prst="rect">
            <a:avLst/>
          </a:prstGeom>
          <a:solidFill>
            <a:srgbClr val="220C0C"/>
          </a:solidFill>
          <a:ln w="6350">
            <a:solidFill>
              <a:srgbClr val="3D101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53312" y="2276856"/>
            <a:ext cx="932688" cy="557784"/>
          </a:xfrm>
          <a:prstGeom prst="rect">
            <a:avLst/>
          </a:prstGeom>
          <a:solidFill>
            <a:srgbClr val="220C0C"/>
          </a:solidFill>
          <a:ln w="6350">
            <a:solidFill>
              <a:srgbClr val="3D101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22576" y="2276856"/>
            <a:ext cx="932688" cy="557784"/>
          </a:xfrm>
          <a:prstGeom prst="rect">
            <a:avLst/>
          </a:prstGeom>
          <a:solidFill>
            <a:srgbClr val="220C0C"/>
          </a:solidFill>
          <a:ln w="6350">
            <a:solidFill>
              <a:srgbClr val="3D101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871216"/>
            <a:ext cx="932688" cy="557784"/>
          </a:xfrm>
          <a:prstGeom prst="rect">
            <a:avLst/>
          </a:prstGeom>
          <a:solidFill>
            <a:srgbClr val="220C0C"/>
          </a:solidFill>
          <a:ln w="6350">
            <a:solidFill>
              <a:srgbClr val="3D101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53312" y="2871216"/>
            <a:ext cx="932688" cy="557784"/>
          </a:xfrm>
          <a:prstGeom prst="rect">
            <a:avLst/>
          </a:prstGeom>
          <a:solidFill>
            <a:srgbClr val="220C0C"/>
          </a:solidFill>
          <a:ln w="6350">
            <a:solidFill>
              <a:srgbClr val="3D101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22576" y="2871216"/>
            <a:ext cx="932688" cy="557784"/>
          </a:xfrm>
          <a:prstGeom prst="rect">
            <a:avLst/>
          </a:prstGeom>
          <a:solidFill>
            <a:srgbClr val="220C0C"/>
          </a:solidFill>
          <a:ln w="6350">
            <a:solidFill>
              <a:srgbClr val="3D1010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37360"/>
            <a:ext cx="384048" cy="53035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47472" y="1664208"/>
            <a:ext cx="1024128" cy="246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1664208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Chest Pain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05840" y="2084832"/>
            <a:ext cx="1371600" cy="45720"/>
          </a:xfrm>
          <a:prstGeom prst="rect">
            <a:avLst/>
          </a:prstGeom>
          <a:solidFill>
            <a:srgbClr val="EF4444">
              <a:alpha val="5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286000" y="1783080"/>
            <a:ext cx="1554480" cy="685800"/>
          </a:xfrm>
          <a:prstGeom prst="rect">
            <a:avLst/>
          </a:prstGeom>
          <a:solidFill>
            <a:srgbClr val="3D1010"/>
          </a:solidFill>
          <a:ln w="19050">
            <a:solidFill>
              <a:srgbClr val="EF4444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865376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679192" y="182880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Pharmacy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2679192" y="212140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(Wrong)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640080" y="2377440"/>
            <a:ext cx="347472" cy="347472"/>
          </a:xfrm>
          <a:prstGeom prst="ellipse">
            <a:avLst/>
          </a:prstGeom>
          <a:solidFill>
            <a:srgbClr val="C8956A"/>
          </a:solidFill>
          <a:ln w="12700">
            <a:solidFill>
              <a:srgbClr val="C8956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76656" y="2706624"/>
            <a:ext cx="274320" cy="5029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56032" y="4279392"/>
            <a:ext cx="3977640" cy="365760"/>
          </a:xfrm>
          <a:prstGeom prst="rect">
            <a:avLst/>
          </a:prstGeom>
          <a:solidFill>
            <a:srgbClr val="3D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56032" y="42793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Generic Search  —  Ineffective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361688" y="1097280"/>
            <a:ext cx="54864" cy="3547872"/>
          </a:xfrm>
          <a:prstGeom prst="rect">
            <a:avLst/>
          </a:prstGeom>
          <a:solidFill>
            <a:srgbClr val="38BDF8">
              <a:alpha val="55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242816" y="265176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VS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544568" y="1097280"/>
            <a:ext cx="4343400" cy="3566160"/>
          </a:xfrm>
          <a:prstGeom prst="rect">
            <a:avLst/>
          </a:prstGeom>
          <a:solidFill>
            <a:srgbClr val="01201A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544568" y="1097280"/>
            <a:ext cx="434340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544568" y="10972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40E1A"/>
                </a:solidFill>
              </a:rPr>
              <a:t>✓  Alavia-AI Smart Routing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4663440" y="1682496"/>
            <a:ext cx="1014984" cy="557784"/>
          </a:xfrm>
          <a:prstGeom prst="rect">
            <a:avLst/>
          </a:prstGeom>
          <a:solidFill>
            <a:srgbClr val="032018"/>
          </a:solidFill>
          <a:ln w="6350">
            <a:solidFill>
              <a:srgbClr val="06382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715000" y="1682496"/>
            <a:ext cx="1014984" cy="557784"/>
          </a:xfrm>
          <a:prstGeom prst="rect">
            <a:avLst/>
          </a:prstGeom>
          <a:solidFill>
            <a:srgbClr val="032018"/>
          </a:solidFill>
          <a:ln w="6350">
            <a:solidFill>
              <a:srgbClr val="06382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766560" y="1682496"/>
            <a:ext cx="1014984" cy="557784"/>
          </a:xfrm>
          <a:prstGeom prst="rect">
            <a:avLst/>
          </a:prstGeom>
          <a:solidFill>
            <a:srgbClr val="032018"/>
          </a:solidFill>
          <a:ln w="6350">
            <a:solidFill>
              <a:srgbClr val="06382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663440" y="2276856"/>
            <a:ext cx="1014984" cy="557784"/>
          </a:xfrm>
          <a:prstGeom prst="rect">
            <a:avLst/>
          </a:prstGeom>
          <a:solidFill>
            <a:srgbClr val="032018"/>
          </a:solidFill>
          <a:ln w="6350">
            <a:solidFill>
              <a:srgbClr val="06382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715000" y="2276856"/>
            <a:ext cx="1014984" cy="557784"/>
          </a:xfrm>
          <a:prstGeom prst="rect">
            <a:avLst/>
          </a:prstGeom>
          <a:solidFill>
            <a:srgbClr val="032018"/>
          </a:solidFill>
          <a:ln w="6350">
            <a:solidFill>
              <a:srgbClr val="06382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766560" y="2276856"/>
            <a:ext cx="1014984" cy="557784"/>
          </a:xfrm>
          <a:prstGeom prst="rect">
            <a:avLst/>
          </a:prstGeom>
          <a:solidFill>
            <a:srgbClr val="032018"/>
          </a:solidFill>
          <a:ln w="6350">
            <a:solidFill>
              <a:srgbClr val="06382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663440" y="2871216"/>
            <a:ext cx="1014984" cy="557784"/>
          </a:xfrm>
          <a:prstGeom prst="rect">
            <a:avLst/>
          </a:prstGeom>
          <a:solidFill>
            <a:srgbClr val="032018"/>
          </a:solidFill>
          <a:ln w="6350">
            <a:solidFill>
              <a:srgbClr val="063828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715000" y="2871216"/>
            <a:ext cx="1014984" cy="557784"/>
          </a:xfrm>
          <a:prstGeom prst="rect">
            <a:avLst/>
          </a:prstGeom>
          <a:solidFill>
            <a:srgbClr val="032018"/>
          </a:solidFill>
          <a:ln w="6350">
            <a:solidFill>
              <a:srgbClr val="063828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766560" y="2871216"/>
            <a:ext cx="1014984" cy="557784"/>
          </a:xfrm>
          <a:prstGeom prst="rect">
            <a:avLst/>
          </a:prstGeom>
          <a:solidFill>
            <a:srgbClr val="032018"/>
          </a:solidFill>
          <a:ln w="6350">
            <a:solidFill>
              <a:srgbClr val="063828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737360"/>
            <a:ext cx="384048" cy="530352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4617720" y="1664208"/>
            <a:ext cx="1024128" cy="2468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4617720" y="1664208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0E1A"/>
                </a:solidFill>
              </a:rPr>
              <a:t>Chest Pain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5852160" y="1783080"/>
            <a:ext cx="1508760" cy="566928"/>
          </a:xfrm>
          <a:prstGeom prst="rect">
            <a:avLst/>
          </a:prstGeom>
          <a:solidFill>
            <a:srgbClr val="0A3A2A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883664"/>
            <a:ext cx="256032" cy="256032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217920" y="182880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</a:rPr>
              <a:t>AI: Cardiac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</a:rPr>
              <a:t>Risk Detected</a:t>
            </a:r>
            <a:endParaRPr lang="en-US" sz="800" dirty="0"/>
          </a:p>
        </p:txBody>
      </p:sp>
      <p:sp>
        <p:nvSpPr>
          <p:cNvPr id="49" name="Shape 43"/>
          <p:cNvSpPr/>
          <p:nvPr/>
        </p:nvSpPr>
        <p:spPr>
          <a:xfrm>
            <a:off x="5230368" y="2295144"/>
            <a:ext cx="1691640" cy="54864"/>
          </a:xfrm>
          <a:prstGeom prst="rect">
            <a:avLst/>
          </a:prstGeom>
          <a:solidFill>
            <a:srgbClr val="02C39A">
              <a:alpha val="68000"/>
            </a:srgbClr>
          </a:solidFill>
          <a:ln w="12700">
            <a:solidFill>
              <a:srgbClr val="02C39A">
                <a:alpha val="6800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6766560" y="2514600"/>
            <a:ext cx="1920240" cy="777240"/>
          </a:xfrm>
          <a:prstGeom prst="rect">
            <a:avLst/>
          </a:prstGeom>
          <a:solidFill>
            <a:srgbClr val="0A3A2A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596896"/>
            <a:ext cx="347472" cy="347472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7223760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Hospital with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Cardiology Unit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4864608" y="2377440"/>
            <a:ext cx="347472" cy="347472"/>
          </a:xfrm>
          <a:prstGeom prst="ellipse">
            <a:avLst/>
          </a:prstGeom>
          <a:solidFill>
            <a:srgbClr val="C8956A"/>
          </a:solidFill>
          <a:ln w="12700">
            <a:solidFill>
              <a:srgbClr val="C8956A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4901184" y="2706624"/>
            <a:ext cx="2743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4544568" y="4279392"/>
            <a:ext cx="4343400" cy="365760"/>
          </a:xfrm>
          <a:prstGeom prst="rect">
            <a:avLst/>
          </a:prstGeom>
          <a:solidFill>
            <a:srgbClr val="06382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4544568" y="42793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Smart Routing  —  Life Saving</a:t>
            </a:r>
            <a:endParaRPr lang="en-US" sz="1100" dirty="0"/>
          </a:p>
        </p:txBody>
      </p:sp>
      <p:sp>
        <p:nvSpPr>
          <p:cNvPr id="57" name="Shape 50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solidFill>
            <a:srgbClr val="0D2F52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B8A6"/>
                </a:solidFill>
              </a:rPr>
              <a:t>Alavia-AI  ·  Team Nibble</a:t>
            </a:r>
            <a:endParaRPr lang="en-US" sz="750" dirty="0"/>
          </a:p>
        </p:txBody>
      </p:sp>
      <p:sp>
        <p:nvSpPr>
          <p:cNvPr id="59" name="Text 52"/>
          <p:cNvSpPr/>
          <p:nvPr/>
        </p:nvSpPr>
        <p:spPr>
          <a:xfrm>
            <a:off x="164592" y="4992624"/>
            <a:ext cx="8814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</a:rPr>
              <a:t>Alavia-AI provides triage guidance and is not a substitute for professional clinical diagnosis.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-365760"/>
            <a:ext cx="6217920" cy="58521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554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A78BFA"/>
                </a:solidFill>
              </a:rPr>
              <a:t>DATA PROTECTION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65760" y="43891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Is a Foundation.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217920" y="457200"/>
            <a:ext cx="26060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17920" y="457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 Aligns with Hackathon Theme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65760" y="1188720"/>
            <a:ext cx="8412480" cy="621792"/>
          </a:xfrm>
          <a:prstGeom prst="rect">
            <a:avLst/>
          </a:prstGeom>
          <a:solidFill>
            <a:srgbClr val="1A0838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188720"/>
            <a:ext cx="91440" cy="6217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" y="1271016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31673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33856" y="12252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 Stored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33856" y="151790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is absolutely necessary for health assessment.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1920240"/>
            <a:ext cx="8412480" cy="621792"/>
          </a:xfrm>
          <a:prstGeom prst="rect">
            <a:avLst/>
          </a:prstGeom>
          <a:solidFill>
            <a:srgbClr val="0A1E3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192024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6928" y="2002536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04825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33856" y="1956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Unnecessary Personal Info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33856" y="22494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unnecessary identifiers are captured or retained.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65760" y="2651760"/>
            <a:ext cx="8412480" cy="621792"/>
          </a:xfrm>
          <a:prstGeom prst="rect">
            <a:avLst/>
          </a:prstGeom>
          <a:solidFill>
            <a:srgbClr val="0A2E22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5760" y="2651760"/>
            <a:ext cx="91440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66928" y="2734056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2779776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33856" y="26883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Communication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33856" y="29809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in transit and at rest is fully encrypted.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65760" y="3383280"/>
            <a:ext cx="8412480" cy="621792"/>
          </a:xfrm>
          <a:prstGeom prst="rect">
            <a:avLst/>
          </a:prstGeom>
          <a:solidFill>
            <a:srgbClr val="2A140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65760" y="3383280"/>
            <a:ext cx="9144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66928" y="346557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3511296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33856" y="34198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Control Their Data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1133856" y="371246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manage, or delete your information at any time.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365760" y="4114800"/>
            <a:ext cx="8412480" cy="621792"/>
          </a:xfrm>
          <a:prstGeom prst="rect">
            <a:avLst/>
          </a:prstGeom>
          <a:solidFill>
            <a:srgbClr val="01201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65760" y="4114800"/>
            <a:ext cx="9144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66928" y="4197096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4242816"/>
            <a:ext cx="329184" cy="32918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133856" y="4151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Permanent AI Memory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1133856" y="444398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are not retained permanently by the AI.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solidFill>
            <a:srgbClr val="0D2F52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B8A6"/>
                </a:solidFill>
              </a:rPr>
              <a:t>Alavia-AI  ·  Team Nibble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926080"/>
            <a:ext cx="4572000" cy="45720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2C39A"/>
                </a:solidFill>
              </a:rPr>
              <a:t>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Alavia-AI Can Change Lives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606040" cy="3657600"/>
          </a:xfrm>
          <a:prstGeom prst="rect">
            <a:avLst/>
          </a:prstGeom>
          <a:solidFill>
            <a:srgbClr val="0A1E12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2606040" cy="1828800"/>
          </a:xfrm>
          <a:prstGeom prst="rect">
            <a:avLst/>
          </a:prstGeom>
          <a:solidFill>
            <a:srgbClr val="1A3828"/>
          </a:solidFill>
          <a:ln w="12700">
            <a:solidFill>
              <a:srgbClr val="1A38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2834640"/>
            <a:ext cx="2606040" cy="1828800"/>
          </a:xfrm>
          <a:prstGeom prst="rect">
            <a:avLst/>
          </a:prstGeom>
          <a:solidFill>
            <a:srgbClr val="0D2518"/>
          </a:solidFill>
          <a:ln w="12700">
            <a:solidFill>
              <a:srgbClr val="0D25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11556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52928" y="1280160"/>
            <a:ext cx="36576" cy="146304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9192" y="1581080"/>
            <a:ext cx="36576" cy="146304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1581080"/>
            <a:ext cx="36576" cy="146304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57984" y="1280160"/>
            <a:ext cx="36576" cy="146304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1720" y="979240"/>
            <a:ext cx="36576" cy="146304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9192" y="979240"/>
            <a:ext cx="36576" cy="146304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70432" y="1755648"/>
            <a:ext cx="530352" cy="530352"/>
          </a:xfrm>
          <a:prstGeom prst="ellipse">
            <a:avLst/>
          </a:prstGeom>
          <a:solidFill>
            <a:srgbClr val="C8956A"/>
          </a:solidFill>
          <a:ln w="12700">
            <a:solidFill>
              <a:srgbClr val="C895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8992" y="2267712"/>
            <a:ext cx="713232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2267712"/>
            <a:ext cx="1078992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2331720"/>
            <a:ext cx="27432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3936" y="2331720"/>
            <a:ext cx="27432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2224" y="2633472"/>
            <a:ext cx="237744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10512" y="2651760"/>
            <a:ext cx="201168" cy="365760"/>
          </a:xfrm>
          <a:prstGeom prst="rect">
            <a:avLst/>
          </a:prstGeom>
          <a:solidFill>
            <a:srgbClr val="38BDF8">
              <a:alpha val="55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16152" y="1984248"/>
            <a:ext cx="438912" cy="256032"/>
          </a:xfrm>
          <a:prstGeom prst="ellipse">
            <a:avLst/>
          </a:prstGeom>
          <a:solidFill>
            <a:srgbClr val="C8956A"/>
          </a:solidFill>
          <a:ln w="12700">
            <a:solidFill>
              <a:srgbClr val="C895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46817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94A3B8"/>
                </a:solidFill>
              </a:rPr>
              <a:t>"Alavia-AI helped me understand</a:t>
            </a:r>
            <a:endParaRPr lang="en-US" sz="680" dirty="0"/>
          </a:p>
          <a:p>
            <a:pPr algn="ctr" indent="0" marL="0">
              <a:buNone/>
            </a:pPr>
            <a:r>
              <a:rPr lang="en-US" sz="680" i="1" dirty="0">
                <a:solidFill>
                  <a:srgbClr val="94A3B8"/>
                </a:solidFill>
              </a:rPr>
              <a:t>my symptoms in Yoruba."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3063240" y="1005840"/>
            <a:ext cx="5715000" cy="676656"/>
          </a:xfrm>
          <a:prstGeom prst="rect">
            <a:avLst/>
          </a:prstGeom>
          <a:solidFill>
            <a:srgbClr val="0D3D36"/>
          </a:solidFill>
          <a:ln w="1524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063240" y="1005840"/>
            <a:ext cx="64008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36976" y="1124712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0984" y="1170432"/>
            <a:ext cx="329184" cy="32918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822192" y="10424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Care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822192" y="1353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delayed healthcare decisions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063240" y="1764792"/>
            <a:ext cx="5715000" cy="676656"/>
          </a:xfrm>
          <a:prstGeom prst="rect">
            <a:avLst/>
          </a:prstGeom>
          <a:solidFill>
            <a:srgbClr val="2E1E0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063240" y="1764792"/>
            <a:ext cx="64008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36976" y="1883664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1929384"/>
            <a:ext cx="329184" cy="329184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3822192" y="18013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Literacy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3822192" y="21122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health awareness nationwide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3063240" y="2523744"/>
            <a:ext cx="5715000" cy="676656"/>
          </a:xfrm>
          <a:prstGeom prst="rect">
            <a:avLst/>
          </a:prstGeom>
          <a:solidFill>
            <a:srgbClr val="0C2440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3063240" y="2523744"/>
            <a:ext cx="64008" cy="67665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3236976" y="2642616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984" y="2688336"/>
            <a:ext cx="329184" cy="329184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3822192" y="2560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Reach</a:t>
            </a:r>
            <a:endParaRPr lang="en-US" sz="1300" dirty="0"/>
          </a:p>
        </p:txBody>
      </p:sp>
      <p:sp>
        <p:nvSpPr>
          <p:cNvPr id="42" name="Text 37"/>
          <p:cNvSpPr/>
          <p:nvPr/>
        </p:nvSpPr>
        <p:spPr>
          <a:xfrm>
            <a:off x="3822192" y="28712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&amp; elderly populations served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3063240" y="3282696"/>
            <a:ext cx="5715000" cy="676656"/>
          </a:xfrm>
          <a:prstGeom prst="rect">
            <a:avLst/>
          </a:prstGeom>
          <a:solidFill>
            <a:srgbClr val="2E1200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3063240" y="3282696"/>
            <a:ext cx="64008" cy="6766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236976" y="3401568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3447288"/>
            <a:ext cx="329184" cy="329184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3822192" y="33192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Crowding</a:t>
            </a:r>
            <a:endParaRPr lang="en-US" sz="1300" dirty="0"/>
          </a:p>
        </p:txBody>
      </p:sp>
      <p:sp>
        <p:nvSpPr>
          <p:cNvPr id="48" name="Text 42"/>
          <p:cNvSpPr/>
          <p:nvPr/>
        </p:nvSpPr>
        <p:spPr>
          <a:xfrm>
            <a:off x="3822192" y="3630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hospital overcrowding</a:t>
            </a:r>
            <a:endParaRPr lang="en-US" sz="1050" dirty="0"/>
          </a:p>
        </p:txBody>
      </p:sp>
      <p:sp>
        <p:nvSpPr>
          <p:cNvPr id="49" name="Shape 43"/>
          <p:cNvSpPr/>
          <p:nvPr/>
        </p:nvSpPr>
        <p:spPr>
          <a:xfrm>
            <a:off x="3063240" y="4041648"/>
            <a:ext cx="5715000" cy="676656"/>
          </a:xfrm>
          <a:prstGeom prst="rect">
            <a:avLst/>
          </a:prstGeom>
          <a:solidFill>
            <a:srgbClr val="013020"/>
          </a:solidFill>
          <a:ln w="1524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50" name="Shape 44"/>
          <p:cNvSpPr/>
          <p:nvPr/>
        </p:nvSpPr>
        <p:spPr>
          <a:xfrm>
            <a:off x="3063240" y="4041648"/>
            <a:ext cx="64008" cy="6766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3236976" y="416052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984" y="4206240"/>
            <a:ext cx="329184" cy="329184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3822192" y="40782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Lives</a:t>
            </a:r>
            <a:endParaRPr lang="en-US" sz="1300" dirty="0"/>
          </a:p>
        </p:txBody>
      </p:sp>
      <p:sp>
        <p:nvSpPr>
          <p:cNvPr id="54" name="Text 47"/>
          <p:cNvSpPr/>
          <p:nvPr/>
        </p:nvSpPr>
        <p:spPr>
          <a:xfrm>
            <a:off x="3822192" y="4389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avoidable deaths</a:t>
            </a:r>
            <a:endParaRPr lang="en-US" sz="1050" dirty="0"/>
          </a:p>
        </p:txBody>
      </p:sp>
      <p:sp>
        <p:nvSpPr>
          <p:cNvPr id="55" name="Shape 4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From first symptom to the right care — Alavia-AI bridges the gap.</a:t>
            </a:r>
            <a:endParaRPr lang="en-US" sz="1200" dirty="0"/>
          </a:p>
        </p:txBody>
      </p:sp>
      <p:sp>
        <p:nvSpPr>
          <p:cNvPr id="57" name="Shape 50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solidFill>
            <a:srgbClr val="0D2F52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B8A6"/>
                </a:solidFill>
              </a:rPr>
              <a:t>Alavia-AI  ·  Team Nibble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F59E0B"/>
                </a:solidFill>
              </a:rPr>
              <a:t>FUTURE EXPANSION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Just the Beginning.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76656"/>
          </a:xfrm>
          <a:prstGeom prst="rect">
            <a:avLst/>
          </a:prstGeom>
          <a:solidFill>
            <a:srgbClr val="0D3D3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91440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61872"/>
            <a:ext cx="731520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618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0E1A"/>
                </a:solidFill>
              </a:rPr>
              <a:t>Phase 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417320" y="11887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23444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93392" y="1133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Hospital Capacity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993392" y="14447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bed availability &amp; wait time data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1847088"/>
            <a:ext cx="8412480" cy="676656"/>
          </a:xfrm>
          <a:prstGeom prst="rect">
            <a:avLst/>
          </a:prstGeom>
          <a:solidFill>
            <a:srgbClr val="3D0A0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1847088"/>
            <a:ext cx="91440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" y="2029968"/>
            <a:ext cx="73152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20299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0E1A"/>
                </a:solidFill>
              </a:rPr>
              <a:t>Phase 2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1417320" y="1956816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2002536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993392" y="19019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Services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993392" y="22128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dispatch integration with ambulance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65760" y="2615184"/>
            <a:ext cx="8412480" cy="676656"/>
          </a:xfrm>
          <a:prstGeom prst="rect">
            <a:avLst/>
          </a:prstGeom>
          <a:solidFill>
            <a:srgbClr val="1A0838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65760" y="2615184"/>
            <a:ext cx="91440" cy="6766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66928" y="2798064"/>
            <a:ext cx="731520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66928" y="27980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0E1A"/>
                </a:solidFill>
              </a:rPr>
              <a:t>Phase 3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1417320" y="2724912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2770632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993392" y="26700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Integration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993392" y="298094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HMO &amp; NHIS-linked coverage verification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65760" y="3383280"/>
            <a:ext cx="8412480" cy="676656"/>
          </a:xfrm>
          <a:prstGeom prst="rect">
            <a:avLst/>
          </a:prstGeom>
          <a:solidFill>
            <a:srgbClr val="0C24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65760" y="3383280"/>
            <a:ext cx="91440" cy="67665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66928" y="3566160"/>
            <a:ext cx="731520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66928" y="3566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0E1A"/>
                </a:solidFill>
              </a:rPr>
              <a:t>Phase 3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1417320" y="3493008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3538728"/>
            <a:ext cx="329184" cy="32918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993392" y="34381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Rural Version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1993392" y="374904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app for low-connectivity zones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365760" y="4151376"/>
            <a:ext cx="8412480" cy="676656"/>
          </a:xfrm>
          <a:prstGeom prst="rect">
            <a:avLst/>
          </a:prstGeom>
          <a:solidFill>
            <a:srgbClr val="01302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365760" y="4151376"/>
            <a:ext cx="91440" cy="6766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66928" y="4334256"/>
            <a:ext cx="7315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66928" y="43342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0E1A"/>
                </a:solidFill>
              </a:rPr>
              <a:t>Phase 4</a:t>
            </a:r>
            <a:endParaRPr lang="en-US" sz="750" dirty="0"/>
          </a:p>
        </p:txBody>
      </p:sp>
      <p:sp>
        <p:nvSpPr>
          <p:cNvPr id="41" name="Shape 35"/>
          <p:cNvSpPr/>
          <p:nvPr/>
        </p:nvSpPr>
        <p:spPr>
          <a:xfrm>
            <a:off x="1417320" y="4261104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328" y="4306824"/>
            <a:ext cx="329184" cy="32918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993392" y="4206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Hospital Database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1993392" y="451713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Comprehensive, verified facility registry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0E1A"/>
                </a:solidFill>
              </a:rPr>
              <a:t>Alavia-AI is built to scale across Nigeria — and beyond.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solidFill>
            <a:srgbClr val="0D2F52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B8A6"/>
                </a:solidFill>
              </a:rPr>
              <a:t>Alavia-AI  ·  Team Nibble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71E3D"/>
          </a:solidFill>
          <a:ln w="12700">
            <a:solidFill>
              <a:srgbClr val="071E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47472"/>
            <a:ext cx="1645920" cy="1645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67512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213969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Alavia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320040" y="290779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5200" dirty="0"/>
          </a:p>
        </p:txBody>
      </p:sp>
      <p:sp>
        <p:nvSpPr>
          <p:cNvPr id="8" name="Shape 5"/>
          <p:cNvSpPr/>
          <p:nvPr/>
        </p:nvSpPr>
        <p:spPr>
          <a:xfrm>
            <a:off x="320040" y="3813048"/>
            <a:ext cx="3200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39044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Voice. Language. Care. Delivered.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3200400"/>
            <a:ext cx="3657600" cy="3657600"/>
          </a:xfrm>
          <a:prstGeom prst="ellipse">
            <a:avLst/>
          </a:prstGeom>
          <a:solidFill>
            <a:srgbClr val="02C39A">
              <a:alpha val="8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77840" y="457200"/>
            <a:ext cx="3200400" cy="594360"/>
          </a:xfrm>
          <a:prstGeom prst="rect">
            <a:avLst/>
          </a:prstGeom>
          <a:solidFill>
            <a:srgbClr val="0A2647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457200"/>
            <a:ext cx="9144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45720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80760" y="4572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Interaction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577840" y="1207008"/>
            <a:ext cx="3200400" cy="594360"/>
          </a:xfrm>
          <a:prstGeom prst="rect">
            <a:avLst/>
          </a:prstGeom>
          <a:solidFill>
            <a:srgbClr val="0A264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1207008"/>
            <a:ext cx="91440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5000" y="1207008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80760" y="12070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Nigerian Languages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577840" y="1956816"/>
            <a:ext cx="3200400" cy="594360"/>
          </a:xfrm>
          <a:prstGeom prst="rect">
            <a:avLst/>
          </a:prstGeom>
          <a:solidFill>
            <a:srgbClr val="0A264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77840" y="1956816"/>
            <a:ext cx="914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15000" y="1956816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080760" y="1956816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+ Smart Routing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577840" y="2706624"/>
            <a:ext cx="3200400" cy="594360"/>
          </a:xfrm>
          <a:prstGeom prst="rect">
            <a:avLst/>
          </a:prstGeom>
          <a:solidFill>
            <a:srgbClr val="0A2647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577840" y="2706624"/>
            <a:ext cx="91440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15000" y="2706624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080760" y="270662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577840" y="3456432"/>
            <a:ext cx="3200400" cy="594360"/>
          </a:xfrm>
          <a:prstGeom prst="rect">
            <a:avLst/>
          </a:prstGeom>
          <a:solidFill>
            <a:srgbClr val="0A2647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577840" y="3456432"/>
            <a:ext cx="9144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15000" y="3456432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080760" y="345643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 Nigeria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577840" y="4315968"/>
            <a:ext cx="14630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77840" y="4315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 Nibble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178040" y="4315968"/>
            <a:ext cx="1645920" cy="457200"/>
          </a:xfrm>
          <a:prstGeom prst="rect">
            <a:avLst/>
          </a:prstGeom>
          <a:solidFill>
            <a:srgbClr val="0D2F5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78040" y="4315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Cavista 2026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Thank You  —  Questions Welcome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solidFill>
            <a:srgbClr val="0D2F52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64592" y="48463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B8A6"/>
                </a:solidFill>
              </a:rPr>
              <a:t>Alavia-AI  ·  Team Nibble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Alavia-AI – Multilingual Voice-First AI Health Partner</dc:title>
  <dc:subject>PptxGenJS Presentation</dc:subject>
  <dc:creator>Team Nibble</dc:creator>
  <cp:lastModifiedBy>Team Nibble</cp:lastModifiedBy>
  <cp:revision>1</cp:revision>
  <dcterms:created xsi:type="dcterms:W3CDTF">2026-02-21T16:25:59Z</dcterms:created>
  <dcterms:modified xsi:type="dcterms:W3CDTF">2026-02-21T16:25:59Z</dcterms:modified>
</cp:coreProperties>
</file>